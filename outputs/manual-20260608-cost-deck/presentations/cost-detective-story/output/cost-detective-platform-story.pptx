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79912b2eaeea4019" /><Relationship Type="http://schemas.openxmlformats.org/officeDocument/2006/relationships/extended-properties" Target="/docProps/app.xml" Id="R155d7b0655c84919" /><Relationship Type="http://schemas.openxmlformats.org/officeDocument/2006/relationships/officeDocument" Target="/ppt/presentation.xml" Id="R7c97a540538c4278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b2a79b79a0ee4688"/>
  </p:sldMasterIdLst>
  <p:notesMasterIdLst>
    <p:notesMasterId xmlns:r="http://schemas.openxmlformats.org/officeDocument/2006/relationships" r:id="R1d16230ddb8c4106"/>
  </p:notesMasterIdLst>
  <p:sldIdLst>
    <p:sldId xmlns:r="http://schemas.openxmlformats.org/officeDocument/2006/relationships" id="256" r:id="Rc2af1e6a8f674b44"/>
    <p:sldId xmlns:r="http://schemas.openxmlformats.org/officeDocument/2006/relationships" id="257" r:id="R4adc1433f09c4247"/>
    <p:sldId xmlns:r="http://schemas.openxmlformats.org/officeDocument/2006/relationships" id="258" r:id="R6187cbe7807546ea"/>
    <p:sldId xmlns:r="http://schemas.openxmlformats.org/officeDocument/2006/relationships" id="259" r:id="Rd6536f48baa844ec"/>
    <p:sldId xmlns:r="http://schemas.openxmlformats.org/officeDocument/2006/relationships" id="260" r:id="R1b161ec282c249fb"/>
    <p:sldId xmlns:r="http://schemas.openxmlformats.org/officeDocument/2006/relationships" id="261" r:id="R8954aecda07342e3"/>
    <p:sldId xmlns:r="http://schemas.openxmlformats.org/officeDocument/2006/relationships" id="262" r:id="Rb9700f78ac3e4869"/>
    <p:sldId xmlns:r="http://schemas.openxmlformats.org/officeDocument/2006/relationships" id="263" r:id="Rd7f9a618ec604ad5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da266b9ca819493e" /><Relationship Type="http://schemas.openxmlformats.org/officeDocument/2006/relationships/slideMaster" Target="/ppt/slideMasters/slideMaster1.xml" Id="Rb2a79b79a0ee4688" /><Relationship Type="http://schemas.openxmlformats.org/officeDocument/2006/relationships/notesMaster" Target="/ppt/notesMasters/notesMaster1.xml" Id="R1d16230ddb8c4106" /><Relationship Type="http://schemas.openxmlformats.org/officeDocument/2006/relationships/presProps" Target="/ppt/presProps.xml" Id="R99356763b8f04a41" /><Relationship Type="http://schemas.openxmlformats.org/officeDocument/2006/relationships/viewProps" Target="/ppt/viewProps.xml" Id="Ra457c802ad754fcb" /><Relationship Type="http://schemas.openxmlformats.org/officeDocument/2006/relationships/tableStyles" Target="/ppt/tableStyles.xml" Id="Raf9675299af6486c" /><Relationship Type="http://schemas.openxmlformats.org/officeDocument/2006/relationships/slide" Target="/ppt/slides/slide1.xml" Id="Rc2af1e6a8f674b44" /><Relationship Type="http://schemas.openxmlformats.org/officeDocument/2006/relationships/slide" Target="/ppt/slides/slide2.xml" Id="R4adc1433f09c4247" /><Relationship Type="http://schemas.openxmlformats.org/officeDocument/2006/relationships/slide" Target="/ppt/slides/slide3.xml" Id="R6187cbe7807546ea" /><Relationship Type="http://schemas.openxmlformats.org/officeDocument/2006/relationships/slide" Target="/ppt/slides/slide4.xml" Id="Rd6536f48baa844ec" /><Relationship Type="http://schemas.openxmlformats.org/officeDocument/2006/relationships/slide" Target="/ppt/slides/slide5.xml" Id="R1b161ec282c249fb" /><Relationship Type="http://schemas.openxmlformats.org/officeDocument/2006/relationships/slide" Target="/ppt/slides/slide6.xml" Id="R8954aecda07342e3" /><Relationship Type="http://schemas.openxmlformats.org/officeDocument/2006/relationships/slide" Target="/ppt/slides/slide7.xml" Id="Rb9700f78ac3e4869" /><Relationship Type="http://schemas.openxmlformats.org/officeDocument/2006/relationships/slide" Target="/ppt/slides/slide8.xml" Id="Rd7f9a618ec604ad5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74bd866525de46bf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a54dfd56810547e6" /><Relationship Type="http://schemas.openxmlformats.org/officeDocument/2006/relationships/notesMaster" Target="/ppt/notesMasters/notesMaster1.xml" Id="Rac7b5c1816384aa6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a2e2b70f533947fd" /><Relationship Type="http://schemas.openxmlformats.org/officeDocument/2006/relationships/notesMaster" Target="/ppt/notesMasters/notesMaster1.xml" Id="R1c80feb33b0245ab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39c5e396b86f4c9e" /><Relationship Type="http://schemas.openxmlformats.org/officeDocument/2006/relationships/notesMaster" Target="/ppt/notesMasters/notesMaster1.xml" Id="R8b36e33df0574902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ec39b2697d134b97" /><Relationship Type="http://schemas.openxmlformats.org/officeDocument/2006/relationships/notesMaster" Target="/ppt/notesMasters/notesMaster1.xml" Id="R3c38f394e3714e69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a3f59f03b62e4b99" /><Relationship Type="http://schemas.openxmlformats.org/officeDocument/2006/relationships/notesMaster" Target="/ppt/notesMasters/notesMaster1.xml" Id="R9653558dfcaa4029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160aa9d4c01a4a3f" /><Relationship Type="http://schemas.openxmlformats.org/officeDocument/2006/relationships/notesMaster" Target="/ppt/notesMasters/notesMaster1.xml" Id="R1753728af4934173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372bbdaa696b4268" /><Relationship Type="http://schemas.openxmlformats.org/officeDocument/2006/relationships/notesMaster" Target="/ppt/notesMasters/notesMaster1.xml" Id="Rb0a44f113b7d40a0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43c854a7d6594336" /><Relationship Type="http://schemas.openxmlformats.org/officeDocument/2006/relationships/notesMaster" Target="/ppt/notesMasters/notesMaster1.xml" Id="Rd2bafcf8eabf43e3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f1d95ba7eb84506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d85b8bd9b37b4314" /><Relationship Type="http://schemas.openxmlformats.org/officeDocument/2006/relationships/slideLayout" Target="/ppt/slideLayouts/slideLayout1.xml" Id="Rab3bcff981474b2b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ab3bcff981474b2b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570ea634fa44513" /><Relationship Type="http://schemas.openxmlformats.org/officeDocument/2006/relationships/image" Target="/ppt/media/image.png" Id="R82a1c271ed5a4b39" /><Relationship Type="http://schemas.openxmlformats.org/officeDocument/2006/relationships/notesSlide" Target="/ppt/notesSlides/notesSlide1.xml" Id="R55eb787390074dfe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2b958dd43324172" /><Relationship Type="http://schemas.openxmlformats.org/officeDocument/2006/relationships/notesSlide" Target="/ppt/notesSlides/notesSlide2.xml" Id="R5bd29655b3f14a16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f0ec38722514430" /><Relationship Type="http://schemas.openxmlformats.org/officeDocument/2006/relationships/image" Target="/ppt/media/image2.png" Id="Rad8f8be29ef345a4" /><Relationship Type="http://schemas.openxmlformats.org/officeDocument/2006/relationships/notesSlide" Target="/ppt/notesSlides/notesSlide3.xml" Id="R53df5963700c4252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3d2bdc484ce48b7" /><Relationship Type="http://schemas.openxmlformats.org/officeDocument/2006/relationships/notesSlide" Target="/ppt/notesSlides/notesSlide4.xml" Id="R32422467b80440c3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7ed780409c043ed" /><Relationship Type="http://schemas.openxmlformats.org/officeDocument/2006/relationships/notesSlide" Target="/ppt/notesSlides/notesSlide5.xml" Id="R6947699f737741a1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c10aa672eba4569" /><Relationship Type="http://schemas.openxmlformats.org/officeDocument/2006/relationships/notesSlide" Target="/ppt/notesSlides/notesSlide6.xml" Id="Raffc7da1b4794f17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240cecdf5e24f93" /><Relationship Type="http://schemas.openxmlformats.org/officeDocument/2006/relationships/notesSlide" Target="/ppt/notesSlides/notesSlide7.xml" Id="R331ca84f693d4557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e71865172c8418b" /><Relationship Type="http://schemas.openxmlformats.org/officeDocument/2006/relationships/notesSlide" Target="/ppt/notesSlides/notesSlide8.xml" Id="R4e4942063307402c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6CEFB4C-549A-49AC-9FE7-E7ED8500ED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30817"/>
          </a:solidFill>
          <a:ln xmlns:a="http://schemas.openxmlformats.org/drawingml/2006/main" w="9525">
            <a:solidFill>
              <a:srgbClr val="030817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5D4F227-11FF-4A49-95EC-B4F4423CEE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D9F5"/>
          </a:solidFill>
          <a:ln xmlns:a="http://schemas.openxmlformats.org/drawingml/2006/main" w="9525">
            <a:solidFill>
              <a:srgbClr val="08D9F5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2B700B1-41DB-441F-82B2-36510A2E04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2324100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111E36"/>
          </a:solidFill>
          <a:ln xmlns:a="http://schemas.openxmlformats.org/drawingml/2006/main" w="9525">
            <a:solidFill>
              <a:srgbClr val="111E36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C9BCFA7-00B4-4B42-AAF4-BBCFA3BC48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23241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30817"/>
          </a:solidFill>
          <a:ln xmlns:a="http://schemas.openxmlformats.org/drawingml/2006/main" w="0">
            <a:solidFill>
              <a:srgbClr val="030817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08D9F5"/>
                </a:solidFill>
                <a:latin typeface="Aptos"/>
                <a:ea typeface="Aptos"/>
                <a:cs typeface="Aptos"/>
              </a:defRPr>
            </a:pPr>
            <a:r>
              <a:t>KUBERNETES EFFICIENCY ANALYSIS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AF43F65-47AF-42A4-B893-95E90171E8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23950"/>
            <a:ext cx="60960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30817"/>
          </a:solidFill>
          <a:ln xmlns:a="http://schemas.openxmlformats.org/drawingml/2006/main" w="0">
            <a:solidFill>
              <a:srgbClr val="030817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4350" b="1">
                <a:solidFill>
                  <a:srgbClr val="F5F7FB"/>
                </a:solidFill>
                <a:latin typeface="Aptos Display"/>
                <a:ea typeface="Aptos Display"/>
                <a:cs typeface="Aptos Display"/>
              </a:defRPr>
            </a:pPr>
            <a:r>
              <a:t>Cost Detective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070E36E-88F7-4336-9DC7-BDA2CA52BC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85950"/>
            <a:ext cx="581025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30817"/>
          </a:solidFill>
          <a:ln xmlns:a="http://schemas.openxmlformats.org/drawingml/2006/main" w="0">
            <a:solidFill>
              <a:srgbClr val="030817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5F7FB"/>
                </a:solidFill>
                <a:latin typeface="Aptos Display"/>
                <a:ea typeface="Aptos Display"/>
                <a:cs typeface="Aptos Display"/>
              </a:defRPr>
            </a:pPr>
            <a:r>
              <a:t>Turn reserved capacity into</a:t>
            </a:r>
          </a:p>
          <a:p xmlns:a="http://schemas.openxmlformats.org/drawingml/2006/main">
            <a:pPr algn="l">
              <a:defRPr sz="2550" b="1">
                <a:solidFill>
                  <a:srgbClr val="F5F7FB"/>
                </a:solidFill>
                <a:latin typeface="Aptos Display"/>
                <a:ea typeface="Aptos Display"/>
                <a:cs typeface="Aptos Display"/>
              </a:defRPr>
            </a:pPr>
            <a:r>
              <a:t>an actionable engineering signal.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8341B91-7909-4262-B132-F87B483DE7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143250"/>
            <a:ext cx="51435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30817"/>
          </a:solidFill>
          <a:ln xmlns:a="http://schemas.openxmlformats.org/drawingml/2006/main" w="0">
            <a:solidFill>
              <a:srgbClr val="030817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93A8C7"/>
                </a:solidFill>
                <a:latin typeface="Aptos"/>
                <a:ea typeface="Aptos"/>
                <a:cs typeface="Aptos"/>
              </a:defRPr>
            </a:pPr>
            <a:r>
              <a:t>A developer-friendly dashboard for workload behavior, autoscaling, resource efficiency, and emerging infrastructure cost insight.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BB5E47C-788C-4610-BDC4-A2525DCE03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552950"/>
            <a:ext cx="1809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30817"/>
          </a:solidFill>
          <a:ln xmlns:a="http://schemas.openxmlformats.org/drawingml/2006/main" w="0">
            <a:solidFill>
              <a:srgbClr val="030817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5F7FB"/>
                </a:solidFill>
                <a:latin typeface="Aptos Display"/>
                <a:ea typeface="Aptos Display"/>
                <a:cs typeface="Aptos Display"/>
              </a:defRPr>
            </a:pPr>
            <a:r>
              <a:t>32%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655C7B6-8AF1-440A-880F-29223ECEB2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048250"/>
            <a:ext cx="1809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30817"/>
          </a:solidFill>
          <a:ln xmlns:a="http://schemas.openxmlformats.org/drawingml/2006/main" w="0">
            <a:solidFill>
              <a:srgbClr val="030817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FFC928"/>
                </a:solidFill>
                <a:latin typeface="Aptos"/>
                <a:ea typeface="Aptos"/>
                <a:cs typeface="Aptos"/>
              </a:defRPr>
            </a:pPr>
            <a:r>
              <a:t>DEMO EFFICIENCY SCORE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248A3D2-95BE-4F80-BB8E-3A3694545A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286375"/>
            <a:ext cx="1809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30817"/>
          </a:solidFill>
          <a:ln xmlns:a="http://schemas.openxmlformats.org/drawingml/2006/main" w="0">
            <a:solidFill>
              <a:srgbClr val="030817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93A8C7"/>
                </a:solidFill>
                <a:latin typeface="Aptos"/>
                <a:ea typeface="Aptos"/>
                <a:cs typeface="Aptos"/>
              </a:defRPr>
            </a:pPr>
            <a:r>
              <a:t>Requested CPU utilization across the example workloads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D77B1DF-55A4-425D-81B6-02083EB7C5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4552950"/>
            <a:ext cx="16192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30817"/>
          </a:solidFill>
          <a:ln xmlns:a="http://schemas.openxmlformats.org/drawingml/2006/main" w="0">
            <a:solidFill>
              <a:srgbClr val="030817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5F7FB"/>
                </a:solidFill>
                <a:latin typeface="Aptos Display"/>
                <a:ea typeface="Aptos Display"/>
                <a:cs typeface="Aptos Display"/>
              </a:defRPr>
            </a:pPr>
            <a:r>
              <a:t>3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92F2287-DAF0-443C-8164-CF447FEF6B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5048250"/>
            <a:ext cx="1619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30817"/>
          </a:solidFill>
          <a:ln xmlns:a="http://schemas.openxmlformats.org/drawingml/2006/main" w="0">
            <a:solidFill>
              <a:srgbClr val="030817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08D9F5"/>
                </a:solidFill>
                <a:latin typeface="Aptos"/>
                <a:ea typeface="Aptos"/>
                <a:cs typeface="Aptos"/>
              </a:defRPr>
            </a:pPr>
            <a:r>
              <a:t>WORKLOADS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48195C3-DC02-4478-AB39-AE708E32AD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5286375"/>
            <a:ext cx="1619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30817"/>
          </a:solidFill>
          <a:ln xmlns:a="http://schemas.openxmlformats.org/drawingml/2006/main" w="0">
            <a:solidFill>
              <a:srgbClr val="030817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93A8C7"/>
                </a:solidFill>
                <a:latin typeface="Aptos"/>
                <a:ea typeface="Aptos"/>
                <a:cs typeface="Aptos"/>
              </a:defRPr>
            </a:pPr>
            <a:r>
              <a:t>Local k3d demonstration environment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85EEA2B-798C-4F9E-83A7-4BE11E6C79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4552950"/>
            <a:ext cx="1809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30817"/>
          </a:solidFill>
          <a:ln xmlns:a="http://schemas.openxmlformats.org/drawingml/2006/main" w="0">
            <a:solidFill>
              <a:srgbClr val="030817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5F7FB"/>
                </a:solidFill>
                <a:latin typeface="Aptos Display"/>
                <a:ea typeface="Aptos Display"/>
                <a:cs typeface="Aptos Display"/>
              </a:defRPr>
            </a:pPr>
            <a:r>
              <a:t>5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0300859-918A-4790-BF85-86FF50DD94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5048250"/>
            <a:ext cx="1809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30817"/>
          </a:solidFill>
          <a:ln xmlns:a="http://schemas.openxmlformats.org/drawingml/2006/main" w="0">
            <a:solidFill>
              <a:srgbClr val="030817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FF5C7A"/>
                </a:solidFill>
                <a:latin typeface="Aptos"/>
                <a:ea typeface="Aptos"/>
                <a:cs typeface="Aptos"/>
              </a:defRPr>
            </a:pPr>
            <a:r>
              <a:t>ANALYSIS FINDINGS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2CF9239-4A53-4859-BF00-3109778D3D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5286375"/>
            <a:ext cx="1809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30817"/>
          </a:solidFill>
          <a:ln xmlns:a="http://schemas.openxmlformats.org/drawingml/2006/main" w="0">
            <a:solidFill>
              <a:srgbClr val="030817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93A8C7"/>
                </a:solidFill>
                <a:latin typeface="Aptos"/>
                <a:ea typeface="Aptos"/>
                <a:cs typeface="Aptos"/>
              </a:defRPr>
            </a:pPr>
            <a:r>
              <a:t>Mock API evidence used during development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9FFAE2C-23E3-4D6F-B0B1-B35B080653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685800"/>
            <a:ext cx="4629150" cy="5467350"/>
          </a:xfrm>
          <a:prstGeom xmlns:a="http://schemas.openxmlformats.org/drawingml/2006/main" prst="roundRect">
            <a:avLst>
              <a:gd name="adj" fmla="val 1646"/>
            </a:avLst>
          </a:prstGeom>
          <a:solidFill xmlns:a="http://schemas.openxmlformats.org/drawingml/2006/main">
            <a:srgbClr val="0C162B"/>
          </a:solidFill>
          <a:ln xmlns:a="http://schemas.openxmlformats.org/drawingml/2006/main" w="9525">
            <a:solidFill>
              <a:srgbClr val="263653"/>
            </a:solidFill>
            <a:prstDash val="solid"/>
          </a:ln>
        </p:spPr>
      </p:sp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2a1c271ed5a4b39"/>
          <a:stretch xmlns:a="http://schemas.openxmlformats.org/drawingml/2006/main"/>
        </p:blipFill>
        <p:spPr>
          <a:xfrm xmlns:a="http://schemas.openxmlformats.org/drawingml/2006/main">
            <a:off x="7124700" y="1498324"/>
            <a:ext cx="4286250" cy="3842303"/>
          </a:xfrm>
          <a:prstGeom xmlns:a="http://schemas.openxmlformats.org/drawingml/2006/main" prst="rect">
            <a:avLst/>
          </a:prstGeom>
        </p:spPr>
      </p:pic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8330912-388A-499C-A4D1-F17BC5EFF9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0557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3653"/>
          </a:solidFill>
          <a:ln xmlns:a="http://schemas.openxmlformats.org/drawingml/2006/main" w="9525">
            <a:solidFill>
              <a:srgbClr val="263653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3C4B2CC-0F9E-47E1-AEAE-CC4971A187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43675"/>
            <a:ext cx="8763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30817"/>
          </a:solidFill>
          <a:ln xmlns:a="http://schemas.openxmlformats.org/drawingml/2006/main" w="0">
            <a:solidFill>
              <a:srgbClr val="030817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93A8C7"/>
                </a:solidFill>
                <a:latin typeface="Aptos"/>
                <a:ea typeface="Aptos"/>
                <a:cs typeface="Aptos"/>
              </a:defRPr>
            </a:pPr>
            <a:r>
              <a:t>Cost Detective | Engineering platform narrative | June 2026</a:t>
            </a:r>
          </a:p>
        </p:txBody>
      </p:sp>
    </p:spTree>
    <p:extLst>
      <p:ext uri="{BB962C8B-B14F-4D97-AF65-F5344CB8AC3E}">
        <p14:creationId xmlns:p14="http://schemas.microsoft.com/office/powerpoint/2010/main" val="1064985702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EE97983-2709-4C62-867D-F32DFBD308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30817"/>
          </a:solidFill>
          <a:ln xmlns:a="http://schemas.openxmlformats.org/drawingml/2006/main" w="9525">
            <a:solidFill>
              <a:srgbClr val="030817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76DF06E-9ECF-418A-B3A2-95800ADE5D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6725"/>
            <a:ext cx="2095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D9F5"/>
          </a:solidFill>
          <a:ln xmlns:a="http://schemas.openxmlformats.org/drawingml/2006/main" w="9525">
            <a:solidFill>
              <a:srgbClr val="08D9F5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1BE9374-62BF-4536-BECF-E01D2A51EA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61950"/>
            <a:ext cx="36957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30817"/>
          </a:solidFill>
          <a:ln xmlns:a="http://schemas.openxmlformats.org/drawingml/2006/main" w="0">
            <a:solidFill>
              <a:srgbClr val="030817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8D9F5"/>
                </a:solidFill>
                <a:latin typeface="Aptos"/>
                <a:ea typeface="Aptos"/>
                <a:cs typeface="Aptos"/>
              </a:defRPr>
            </a:pPr>
            <a:r>
              <a:t>THE HIDDEN GAP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B058C62-FC7B-43C4-AD63-36A2428350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38225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30817"/>
          </a:solidFill>
          <a:ln xmlns:a="http://schemas.openxmlformats.org/drawingml/2006/main" w="0">
            <a:solidFill>
              <a:srgbClr val="030817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5F7FB"/>
                </a:solidFill>
                <a:latin typeface="Aptos Display"/>
                <a:ea typeface="Aptos Display"/>
                <a:cs typeface="Aptos Display"/>
              </a:defRPr>
            </a:pPr>
            <a:r>
              <a:t>Reserved capacity and actual demand rarely tell the same story.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3ABEE25-0617-4ACC-91D6-24722F6613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562100"/>
            <a:ext cx="9906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30817"/>
          </a:solidFill>
          <a:ln xmlns:a="http://schemas.openxmlformats.org/drawingml/2006/main" w="0">
            <a:solidFill>
              <a:srgbClr val="030817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93A8C7"/>
                </a:solidFill>
                <a:latin typeface="Aptos"/>
                <a:ea typeface="Aptos"/>
                <a:cs typeface="Aptos"/>
              </a:defRPr>
            </a:pPr>
            <a:r>
              <a:t>Cost Detective makes that gap visible at workload level.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764D009-C414-4733-B1BE-4EE7DCDE9F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400050"/>
            <a:ext cx="4000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30817"/>
          </a:solidFill>
          <a:ln xmlns:a="http://schemas.openxmlformats.org/drawingml/2006/main" w="0">
            <a:solidFill>
              <a:srgbClr val="030817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93A8C7"/>
                </a:solidFill>
                <a:latin typeface="Aptos"/>
                <a:ea typeface="Aptos"/>
                <a:cs typeface="Aptos"/>
              </a:defRPr>
            </a:pPr>
            <a:r>
              <a:t>02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78FFA8E-F6C5-45DF-A970-9FEEA56153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76450"/>
            <a:ext cx="21907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30817"/>
          </a:solidFill>
          <a:ln xmlns:a="http://schemas.openxmlformats.org/drawingml/2006/main" w="0">
            <a:solidFill>
              <a:srgbClr val="030817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4050" b="1">
                <a:solidFill>
                  <a:srgbClr val="F5F7FB"/>
                </a:solidFill>
                <a:latin typeface="Aptos Display"/>
                <a:ea typeface="Aptos Display"/>
                <a:cs typeface="Aptos Display"/>
              </a:defRPr>
            </a:pPr>
            <a:r>
              <a:t>500m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143E811-F814-4770-9A6C-B2EF6C2169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838450"/>
            <a:ext cx="2190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30817"/>
          </a:solidFill>
          <a:ln xmlns:a="http://schemas.openxmlformats.org/drawingml/2006/main" w="0">
            <a:solidFill>
              <a:srgbClr val="030817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93A8C7"/>
                </a:solidFill>
                <a:latin typeface="Aptos"/>
                <a:ea typeface="Aptos"/>
                <a:cs typeface="Aptos"/>
              </a:defRPr>
            </a:pPr>
            <a:r>
              <a:t>CPU requested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B71B496-AF02-4D3F-9B29-527B56325B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200400"/>
            <a:ext cx="4476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3653"/>
          </a:solidFill>
          <a:ln xmlns:a="http://schemas.openxmlformats.org/drawingml/2006/main" w="9525">
            <a:solidFill>
              <a:srgbClr val="263653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96B1A54-C65C-4A3A-A1A5-76FC19393B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200400"/>
            <a:ext cx="1076325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D9F5"/>
          </a:solidFill>
          <a:ln xmlns:a="http://schemas.openxmlformats.org/drawingml/2006/main" w="9525">
            <a:solidFill>
              <a:srgbClr val="08D9F5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BF198B0-66EE-46B4-8B41-91D28E1FB2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486150"/>
            <a:ext cx="1714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30817"/>
          </a:solidFill>
          <a:ln xmlns:a="http://schemas.openxmlformats.org/drawingml/2006/main" w="0">
            <a:solidFill>
              <a:srgbClr val="030817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8D9F5"/>
                </a:solidFill>
                <a:latin typeface="Aptos"/>
                <a:ea typeface="Aptos"/>
                <a:cs typeface="Aptos"/>
              </a:defRPr>
            </a:pPr>
            <a:r>
              <a:t>120m used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FF4ED32-0C89-4E5F-91D7-D1EE7B7722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5100" y="3486150"/>
            <a:ext cx="25717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30817"/>
          </a:solidFill>
          <a:ln xmlns:a="http://schemas.openxmlformats.org/drawingml/2006/main" w="0">
            <a:solidFill>
              <a:srgbClr val="030817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FFC928"/>
                </a:solidFill>
                <a:latin typeface="Aptos"/>
                <a:ea typeface="Aptos"/>
                <a:cs typeface="Aptos"/>
              </a:defRPr>
            </a:pPr>
            <a:r>
              <a:t>380m reserved but idle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8913857-B530-4444-830E-7773E3525F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1971675"/>
            <a:ext cx="19050" cy="381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3653"/>
          </a:solidFill>
          <a:ln xmlns:a="http://schemas.openxmlformats.org/drawingml/2006/main" w="9525">
            <a:solidFill>
              <a:srgbClr val="263653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46F51C3-DB7F-4B22-80A6-F7AE0F1134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076450"/>
            <a:ext cx="2095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D9F5"/>
          </a:solidFill>
          <a:ln xmlns:a="http://schemas.openxmlformats.org/drawingml/2006/main" w="9525">
            <a:solidFill>
              <a:srgbClr val="08D9F5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F51339F-00A6-4F85-BFE3-0658D1B830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1924050"/>
            <a:ext cx="4095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30817"/>
          </a:solidFill>
          <a:ln xmlns:a="http://schemas.openxmlformats.org/drawingml/2006/main" w="0">
            <a:solidFill>
              <a:srgbClr val="030817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5F7FB"/>
                </a:solidFill>
                <a:latin typeface="Aptos"/>
                <a:ea typeface="Aptos"/>
                <a:cs typeface="Aptos"/>
              </a:defRPr>
            </a:pPr>
            <a:r>
              <a:t>Raw metrics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55277D5-9D37-47FB-88D3-A57648E9AD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266950"/>
            <a:ext cx="4095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30817"/>
          </a:solidFill>
          <a:ln xmlns:a="http://schemas.openxmlformats.org/drawingml/2006/main" w="0">
            <a:solidFill>
              <a:srgbClr val="030817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93A8C7"/>
                </a:solidFill>
                <a:latin typeface="Aptos"/>
                <a:ea typeface="Aptos"/>
                <a:cs typeface="Aptos"/>
              </a:defRPr>
            </a:pPr>
            <a:r>
              <a:t>CPU, memory, restarts, replicas and HPA state arrive as separate signals.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7224E74-82C7-4B65-AB7B-7FD1D53404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276600"/>
            <a:ext cx="2095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5C7A"/>
          </a:solidFill>
          <a:ln xmlns:a="http://schemas.openxmlformats.org/drawingml/2006/main" w="9525">
            <a:solidFill>
              <a:srgbClr val="FF5C7A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B242E35-4029-4399-8977-ADFF1237BF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124200"/>
            <a:ext cx="4095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30817"/>
          </a:solidFill>
          <a:ln xmlns:a="http://schemas.openxmlformats.org/drawingml/2006/main" w="0">
            <a:solidFill>
              <a:srgbClr val="030817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5F7FB"/>
                </a:solidFill>
                <a:latin typeface="Aptos"/>
                <a:ea typeface="Aptos"/>
                <a:cs typeface="Aptos"/>
              </a:defRPr>
            </a:pPr>
            <a:r>
              <a:t>Configuration risk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3F022F7-D7B5-4F9B-9E4C-D1EA9BF818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467100"/>
            <a:ext cx="4095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30817"/>
          </a:solidFill>
          <a:ln xmlns:a="http://schemas.openxmlformats.org/drawingml/2006/main" w="0">
            <a:solidFill>
              <a:srgbClr val="030817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93A8C7"/>
                </a:solidFill>
                <a:latin typeface="Aptos"/>
                <a:ea typeface="Aptos"/>
                <a:cs typeface="Aptos"/>
              </a:defRPr>
            </a:pPr>
            <a:r>
              <a:t>Missing requests and unhealthy HPA conditions need rule-based interpretation.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171CA19-13FB-4C7B-BA45-50A9EC2939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4476750"/>
            <a:ext cx="2095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C928"/>
          </a:solidFill>
          <a:ln xmlns:a="http://schemas.openxmlformats.org/drawingml/2006/main" w="9525">
            <a:solidFill>
              <a:srgbClr val="FFC928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B532954-D1B3-450F-89A9-705111C42B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4324350"/>
            <a:ext cx="4095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30817"/>
          </a:solidFill>
          <a:ln xmlns:a="http://schemas.openxmlformats.org/drawingml/2006/main" w="0">
            <a:solidFill>
              <a:srgbClr val="030817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5F7FB"/>
                </a:solidFill>
                <a:latin typeface="Aptos"/>
                <a:ea typeface="Aptos"/>
                <a:cs typeface="Aptos"/>
              </a:defRPr>
            </a:pPr>
            <a:r>
              <a:t>Cost ambiguity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BE4207B-002F-41AD-8211-7D1789A913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4667250"/>
            <a:ext cx="4095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30817"/>
          </a:solidFill>
          <a:ln xmlns:a="http://schemas.openxmlformats.org/drawingml/2006/main" w="0">
            <a:solidFill>
              <a:srgbClr val="030817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93A8C7"/>
                </a:solidFill>
                <a:latin typeface="Aptos"/>
                <a:ea typeface="Aptos"/>
                <a:cs typeface="Aptos"/>
              </a:defRPr>
            </a:pPr>
            <a:r>
              <a:t>Reserved capacity becomes expensive before teams can connect it to a workload.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CD4EBF5-3AC7-4E2E-AF36-C00E0FCD43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0557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3653"/>
          </a:solidFill>
          <a:ln xmlns:a="http://schemas.openxmlformats.org/drawingml/2006/main" w="9525">
            <a:solidFill>
              <a:srgbClr val="263653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1821CF4-040A-4135-B949-7E0E38DDFA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43675"/>
            <a:ext cx="8763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30817"/>
          </a:solidFill>
          <a:ln xmlns:a="http://schemas.openxmlformats.org/drawingml/2006/main" w="0">
            <a:solidFill>
              <a:srgbClr val="030817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93A8C7"/>
                </a:solidFill>
                <a:latin typeface="Aptos"/>
                <a:ea typeface="Aptos"/>
                <a:cs typeface="Aptos"/>
              </a:defRPr>
            </a:pPr>
            <a:r>
              <a:t>Illustrative calculation from repository README: 500m requested, 120m used</a:t>
            </a:r>
          </a:p>
        </p:txBody>
      </p:sp>
    </p:spTree>
    <p:extLst>
      <p:ext uri="{BB962C8B-B14F-4D97-AF65-F5344CB8AC3E}">
        <p14:creationId xmlns:p14="http://schemas.microsoft.com/office/powerpoint/2010/main" val="2049727462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D9BED98-6EC0-4880-A8EC-2A8C0E0DCD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30817"/>
          </a:solidFill>
          <a:ln xmlns:a="http://schemas.openxmlformats.org/drawingml/2006/main" w="9525">
            <a:solidFill>
              <a:srgbClr val="030817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76749E0-73E4-4E73-9288-7DEFFDA7D7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6725"/>
            <a:ext cx="2095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D9F5"/>
          </a:solidFill>
          <a:ln xmlns:a="http://schemas.openxmlformats.org/drawingml/2006/main" w="9525">
            <a:solidFill>
              <a:srgbClr val="08D9F5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CF94D63-5E87-4547-862C-C50FBF84C8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61950"/>
            <a:ext cx="36957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30817"/>
          </a:solidFill>
          <a:ln xmlns:a="http://schemas.openxmlformats.org/drawingml/2006/main" w="0">
            <a:solidFill>
              <a:srgbClr val="030817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8D9F5"/>
                </a:solidFill>
                <a:latin typeface="Aptos"/>
                <a:ea typeface="Aptos"/>
                <a:cs typeface="Aptos"/>
              </a:defRPr>
            </a:pPr>
            <a:r>
              <a:t>PRODUCT VIEW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557A4AA-420F-4531-A35D-40985086AC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38225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30817"/>
          </a:solidFill>
          <a:ln xmlns:a="http://schemas.openxmlformats.org/drawingml/2006/main" w="0">
            <a:solidFill>
              <a:srgbClr val="030817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5F7FB"/>
                </a:solidFill>
                <a:latin typeface="Aptos Display"/>
                <a:ea typeface="Aptos Display"/>
                <a:cs typeface="Aptos Display"/>
              </a:defRPr>
            </a:pPr>
            <a:r>
              <a:t>One dashboard joins cluster health, scaling behavior, and efficiency.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83EBA3A-5DE2-4613-8410-52E64FED46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562100"/>
            <a:ext cx="9906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30817"/>
          </a:solidFill>
          <a:ln xmlns:a="http://schemas.openxmlformats.org/drawingml/2006/main" w="0">
            <a:solidFill>
              <a:srgbClr val="030817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93A8C7"/>
                </a:solidFill>
                <a:latin typeface="Aptos"/>
                <a:ea typeface="Aptos"/>
                <a:cs typeface="Aptos"/>
              </a:defRPr>
            </a:pPr>
            <a:r>
              <a:t>The product view moves from status to investigation without changing tools.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554B58E-8846-400A-85FE-9B534D4782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400050"/>
            <a:ext cx="4000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30817"/>
          </a:solidFill>
          <a:ln xmlns:a="http://schemas.openxmlformats.org/drawingml/2006/main" w="0">
            <a:solidFill>
              <a:srgbClr val="030817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93A8C7"/>
                </a:solidFill>
                <a:latin typeface="Aptos"/>
                <a:ea typeface="Aptos"/>
                <a:cs typeface="Aptos"/>
              </a:defRPr>
            </a:pPr>
            <a:r>
              <a:t>03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2C0AC28-EFE8-40F8-8A22-787591A722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24050"/>
            <a:ext cx="7143750" cy="4171950"/>
          </a:xfrm>
          <a:prstGeom xmlns:a="http://schemas.openxmlformats.org/drawingml/2006/main" prst="roundRect">
            <a:avLst>
              <a:gd name="adj" fmla="val 1826"/>
            </a:avLst>
          </a:prstGeom>
          <a:solidFill xmlns:a="http://schemas.openxmlformats.org/drawingml/2006/main">
            <a:srgbClr val="0C162B"/>
          </a:solidFill>
          <a:ln xmlns:a="http://schemas.openxmlformats.org/drawingml/2006/main" w="9525">
            <a:solidFill>
              <a:srgbClr val="263653"/>
            </a:solidFill>
            <a:prstDash val="solid"/>
          </a:ln>
        </p:spPr>
      </p:sp>
      <p:pic>
        <p:nvPicPr>
          <p:cNvPr id="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d8f8be29ef345a4"/>
          <a:stretch xmlns:a="http://schemas.openxmlformats.org/drawingml/2006/main"/>
        </p:blipFill>
        <p:spPr>
          <a:xfrm xmlns:a="http://schemas.openxmlformats.org/drawingml/2006/main">
            <a:off x="2003240" y="2057400"/>
            <a:ext cx="4356470" cy="3905250"/>
          </a:xfrm>
          <a:prstGeom xmlns:a="http://schemas.openxmlformats.org/drawingml/2006/main" prst="rect">
            <a:avLst/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E15F8E3-58D2-4FD8-A6B6-057135A72A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076450"/>
            <a:ext cx="27622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30817"/>
          </a:solidFill>
          <a:ln xmlns:a="http://schemas.openxmlformats.org/drawingml/2006/main" w="0">
            <a:solidFill>
              <a:srgbClr val="030817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5F7FB"/>
                </a:solidFill>
                <a:latin typeface="Aptos Display"/>
                <a:ea typeface="Aptos Display"/>
                <a:cs typeface="Aptos Display"/>
              </a:defRPr>
            </a:pPr>
            <a:r>
              <a:t>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60B8A29-2FD2-45F5-8E5E-3B75B35BCE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571750"/>
            <a:ext cx="2762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30817"/>
          </a:solidFill>
          <a:ln xmlns:a="http://schemas.openxmlformats.org/drawingml/2006/main" w="0">
            <a:solidFill>
              <a:srgbClr val="030817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08D9F5"/>
                </a:solidFill>
                <a:latin typeface="Aptos"/>
                <a:ea typeface="Aptos"/>
                <a:cs typeface="Aptos"/>
              </a:defRPr>
            </a:pPr>
            <a:r>
              <a:t>CLUSTER VIEW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5452961-F7DC-437D-AC30-F2A80FCD83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809875"/>
            <a:ext cx="2762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30817"/>
          </a:solidFill>
          <a:ln xmlns:a="http://schemas.openxmlformats.org/drawingml/2006/main" w="0">
            <a:solidFill>
              <a:srgbClr val="030817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93A8C7"/>
                </a:solidFill>
                <a:latin typeface="Aptos"/>
                <a:ea typeface="Aptos"/>
                <a:cs typeface="Aptos"/>
              </a:defRPr>
            </a:pPr>
            <a:r>
              <a:t>Health, workloads, CPU and autoscaling in one scan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A66F98B-A837-42D8-ACE0-DC90E25478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3352800"/>
            <a:ext cx="2762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3653"/>
          </a:solidFill>
          <a:ln xmlns:a="http://schemas.openxmlformats.org/drawingml/2006/main" w="9525">
            <a:solidFill>
              <a:srgbClr val="263653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2C053B3-8851-4EA0-9AB3-57B8C63B53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3581400"/>
            <a:ext cx="27622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30817"/>
          </a:solidFill>
          <a:ln xmlns:a="http://schemas.openxmlformats.org/drawingml/2006/main" w="0">
            <a:solidFill>
              <a:srgbClr val="030817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5F7FB"/>
                </a:solidFill>
                <a:latin typeface="Aptos Display"/>
                <a:ea typeface="Aptos Display"/>
                <a:cs typeface="Aptos Display"/>
              </a:defRPr>
            </a:pPr>
            <a:r>
              <a:t>Live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9AF3334-9610-47F2-9EF2-0F56DA21E5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4076700"/>
            <a:ext cx="2762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30817"/>
          </a:solidFill>
          <a:ln xmlns:a="http://schemas.openxmlformats.org/drawingml/2006/main" w="0">
            <a:solidFill>
              <a:srgbClr val="030817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22D3A6"/>
                </a:solidFill>
                <a:latin typeface="Aptos"/>
                <a:ea typeface="Aptos"/>
                <a:cs typeface="Aptos"/>
              </a:defRPr>
            </a:pPr>
            <a:r>
              <a:t>SIGNAL PATH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1C41CC9-4F3F-4671-A0B5-F73B25CEC6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4314825"/>
            <a:ext cx="2762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30817"/>
          </a:solidFill>
          <a:ln xmlns:a="http://schemas.openxmlformats.org/drawingml/2006/main" w="0">
            <a:solidFill>
              <a:srgbClr val="030817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93A8C7"/>
                </a:solidFill>
                <a:latin typeface="Aptos"/>
                <a:ea typeface="Aptos"/>
                <a:cs typeface="Aptos"/>
              </a:defRPr>
            </a:pPr>
            <a:r>
              <a:t>Next.js routes read the FastAPI analysis surface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A44F5CE-53EF-403D-93F8-1F3DEE0E69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4857750"/>
            <a:ext cx="2762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3653"/>
          </a:solidFill>
          <a:ln xmlns:a="http://schemas.openxmlformats.org/drawingml/2006/main" w="9525">
            <a:solidFill>
              <a:srgbClr val="263653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ABBBF80-9258-4EE1-A030-B0169511B7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5067300"/>
            <a:ext cx="28575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30817"/>
          </a:solidFill>
          <a:ln xmlns:a="http://schemas.openxmlformats.org/drawingml/2006/main" w="0">
            <a:solidFill>
              <a:srgbClr val="030817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5F7FB"/>
                </a:solidFill>
                <a:latin typeface="Aptos"/>
                <a:ea typeface="Aptos"/>
                <a:cs typeface="Aptos"/>
              </a:defRPr>
            </a:pPr>
            <a:r>
              <a:t>Designed for platform engineers who need a fast answer before opening kubectl.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5096B4A-AF53-4455-BDFD-1097501631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0557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3653"/>
          </a:solidFill>
          <a:ln xmlns:a="http://schemas.openxmlformats.org/drawingml/2006/main" w="9525">
            <a:solidFill>
              <a:srgbClr val="263653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C534085-11AD-46FB-B70D-C6C163F4C5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43675"/>
            <a:ext cx="8763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30817"/>
          </a:solidFill>
          <a:ln xmlns:a="http://schemas.openxmlformats.org/drawingml/2006/main" w="0">
            <a:solidFill>
              <a:srgbClr val="030817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93A8C7"/>
                </a:solidFill>
                <a:latin typeface="Aptos"/>
                <a:ea typeface="Aptos"/>
                <a:cs typeface="Aptos"/>
              </a:defRPr>
            </a:pPr>
            <a:r>
              <a:t>Source: Cost Detective repository and dashboard screenshots</a:t>
            </a:r>
          </a:p>
        </p:txBody>
      </p:sp>
    </p:spTree>
    <p:extLst>
      <p:ext uri="{BB962C8B-B14F-4D97-AF65-F5344CB8AC3E}">
        <p14:creationId xmlns:p14="http://schemas.microsoft.com/office/powerpoint/2010/main" val="538657994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3E48B7A-C6E6-4637-87A6-4013F1EE55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30817"/>
          </a:solidFill>
          <a:ln xmlns:a="http://schemas.openxmlformats.org/drawingml/2006/main" w="9525">
            <a:solidFill>
              <a:srgbClr val="030817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0D93126-513C-4FA1-A753-6A3EA8B80F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6725"/>
            <a:ext cx="2095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D9F5"/>
          </a:solidFill>
          <a:ln xmlns:a="http://schemas.openxmlformats.org/drawingml/2006/main" w="9525">
            <a:solidFill>
              <a:srgbClr val="08D9F5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755F823-7797-43D8-A330-C5246E3984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61950"/>
            <a:ext cx="36957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30817"/>
          </a:solidFill>
          <a:ln xmlns:a="http://schemas.openxmlformats.org/drawingml/2006/main" w="0">
            <a:solidFill>
              <a:srgbClr val="030817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8D9F5"/>
                </a:solidFill>
                <a:latin typeface="Aptos"/>
                <a:ea typeface="Aptos"/>
                <a:cs typeface="Aptos"/>
              </a:defRPr>
            </a:pPr>
            <a:r>
              <a:t>EFFICIENCY PROOF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D794489-41CE-4748-BBBF-C38058B74F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38225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30817"/>
          </a:solidFill>
          <a:ln xmlns:a="http://schemas.openxmlformats.org/drawingml/2006/main" w="0">
            <a:solidFill>
              <a:srgbClr val="030817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5F7FB"/>
                </a:solidFill>
                <a:latin typeface="Aptos Display"/>
                <a:ea typeface="Aptos Display"/>
                <a:cs typeface="Aptos Display"/>
              </a:defRPr>
            </a:pPr>
            <a:r>
              <a:t>The demo cluster uses only 32% of its reserved CPU.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7397680-2E4D-41F5-AC91-10012F6D86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562100"/>
            <a:ext cx="9906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30817"/>
          </a:solidFill>
          <a:ln xmlns:a="http://schemas.openxmlformats.org/drawingml/2006/main" w="0">
            <a:solidFill>
              <a:srgbClr val="030817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93A8C7"/>
                </a:solidFill>
                <a:latin typeface="Aptos"/>
                <a:ea typeface="Aptos"/>
                <a:cs typeface="Aptos"/>
              </a:defRPr>
            </a:pPr>
            <a:r>
              <a:t>Workload-level evidence makes the optimization target concrete.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A573332-643D-44CD-BFDA-6008060ABA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400050"/>
            <a:ext cx="4000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30817"/>
          </a:solidFill>
          <a:ln xmlns:a="http://schemas.openxmlformats.org/drawingml/2006/main" w="0">
            <a:solidFill>
              <a:srgbClr val="030817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93A8C7"/>
                </a:solidFill>
                <a:latin typeface="Aptos"/>
                <a:ea typeface="Aptos"/>
                <a:cs typeface="Aptos"/>
              </a:defRPr>
            </a:pPr>
            <a:r>
              <a:t>04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A4FEAD4-1D51-4121-A1C3-9AD2F89EEF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38350"/>
            <a:ext cx="6781800" cy="3543300"/>
          </a:xfrm>
          <a:prstGeom xmlns:a="http://schemas.openxmlformats.org/drawingml/2006/main" prst="roundRect">
            <a:avLst>
              <a:gd name="adj" fmla="val 2151"/>
            </a:avLst>
          </a:prstGeom>
          <a:solidFill xmlns:a="http://schemas.openxmlformats.org/drawingml/2006/main">
            <a:srgbClr val="0C162B"/>
          </a:solidFill>
          <a:ln xmlns:a="http://schemas.openxmlformats.org/drawingml/2006/main" w="9525">
            <a:solidFill>
              <a:srgbClr val="263653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A73AE08-FC02-4466-8268-5223DE50B8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324100"/>
            <a:ext cx="61531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30817"/>
          </a:solidFill>
          <a:ln xmlns:a="http://schemas.openxmlformats.org/drawingml/2006/main" w="0">
            <a:solidFill>
              <a:srgbClr val="030817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5F7FB"/>
                </a:solidFill>
                <a:latin typeface="Aptos"/>
                <a:ea typeface="Aptos"/>
                <a:cs typeface="Aptos"/>
              </a:defRPr>
            </a:pPr>
            <a:r>
              <a:t>cd-api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AF64F89-263E-48E0-B2BE-10F52D7464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590800"/>
            <a:ext cx="1428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30817"/>
          </a:solidFill>
          <a:ln xmlns:a="http://schemas.openxmlformats.org/drawingml/2006/main" w="0">
            <a:solidFill>
              <a:srgbClr val="030817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93A8C7"/>
                </a:solidFill>
                <a:latin typeface="Aptos"/>
                <a:ea typeface="Aptos"/>
                <a:cs typeface="Aptos"/>
              </a:defRPr>
            </a:pPr>
            <a:r>
              <a:t>requested 500m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CB0C192-E508-4DB4-B0A0-815A3BB4E7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2590800"/>
            <a:ext cx="1143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30817"/>
          </a:solidFill>
          <a:ln xmlns:a="http://schemas.openxmlformats.org/drawingml/2006/main" w="0">
            <a:solidFill>
              <a:srgbClr val="030817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93A8C7"/>
                </a:solidFill>
                <a:latin typeface="Aptos"/>
                <a:ea typeface="Aptos"/>
                <a:cs typeface="Aptos"/>
              </a:defRPr>
            </a:pPr>
            <a:r>
              <a:t>used 120m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660DF3E-A24D-4329-9408-D67937401D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2150" y="2590800"/>
            <a:ext cx="1238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30817"/>
          </a:solidFill>
          <a:ln xmlns:a="http://schemas.openxmlformats.org/drawingml/2006/main" w="0">
            <a:solidFill>
              <a:srgbClr val="030817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FFC928"/>
                </a:solidFill>
                <a:latin typeface="Aptos"/>
                <a:ea typeface="Aptos"/>
                <a:cs typeface="Aptos"/>
              </a:defRPr>
            </a:pPr>
            <a:r>
              <a:t>waste 380m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AE46D63-25B8-4C2D-A6F4-DA68707C90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847975"/>
            <a:ext cx="615315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3653"/>
          </a:solidFill>
          <a:ln xmlns:a="http://schemas.openxmlformats.org/drawingml/2006/main" w="9525">
            <a:solidFill>
              <a:srgbClr val="263653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94EAB41-1907-466E-9B1B-DAB4A729C5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847975"/>
            <a:ext cx="1476756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D9F5"/>
          </a:solidFill>
          <a:ln xmlns:a="http://schemas.openxmlformats.org/drawingml/2006/main" w="9525">
            <a:solidFill>
              <a:srgbClr val="08D9F5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AB918C0-6E07-4A86-8AB5-6A2CA26B99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314700"/>
            <a:ext cx="61531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30817"/>
          </a:solidFill>
          <a:ln xmlns:a="http://schemas.openxmlformats.org/drawingml/2006/main" w="0">
            <a:solidFill>
              <a:srgbClr val="030817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5F7FB"/>
                </a:solidFill>
                <a:latin typeface="Aptos"/>
                <a:ea typeface="Aptos"/>
                <a:cs typeface="Aptos"/>
              </a:defRPr>
            </a:pPr>
            <a:r>
              <a:t>cd-web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B8D7E07-CB49-4614-8010-AADA558118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581400"/>
            <a:ext cx="1428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30817"/>
          </a:solidFill>
          <a:ln xmlns:a="http://schemas.openxmlformats.org/drawingml/2006/main" w="0">
            <a:solidFill>
              <a:srgbClr val="030817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93A8C7"/>
                </a:solidFill>
                <a:latin typeface="Aptos"/>
                <a:ea typeface="Aptos"/>
                <a:cs typeface="Aptos"/>
              </a:defRPr>
            </a:pPr>
            <a:r>
              <a:t>requested 300m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48D47BA-F87A-4C1B-A00B-A767A31D40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3581400"/>
            <a:ext cx="1143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30817"/>
          </a:solidFill>
          <a:ln xmlns:a="http://schemas.openxmlformats.org/drawingml/2006/main" w="0">
            <a:solidFill>
              <a:srgbClr val="030817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93A8C7"/>
                </a:solidFill>
                <a:latin typeface="Aptos"/>
                <a:ea typeface="Aptos"/>
                <a:cs typeface="Aptos"/>
              </a:defRPr>
            </a:pPr>
            <a:r>
              <a:t>used 80m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778D0B5-3660-4940-A5F8-354786434B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2150" y="3581400"/>
            <a:ext cx="1238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30817"/>
          </a:solidFill>
          <a:ln xmlns:a="http://schemas.openxmlformats.org/drawingml/2006/main" w="0">
            <a:solidFill>
              <a:srgbClr val="030817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FFC928"/>
                </a:solidFill>
                <a:latin typeface="Aptos"/>
                <a:ea typeface="Aptos"/>
                <a:cs typeface="Aptos"/>
              </a:defRPr>
            </a:pPr>
            <a:r>
              <a:t>waste 220m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7F61C5C-E810-4F16-96C1-5045AE1E9D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838575"/>
            <a:ext cx="615315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3653"/>
          </a:solidFill>
          <a:ln xmlns:a="http://schemas.openxmlformats.org/drawingml/2006/main" w="9525">
            <a:solidFill>
              <a:srgbClr val="263653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12F6A98-BC41-477E-BF2F-4471C457C6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838575"/>
            <a:ext cx="164084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D9F5"/>
          </a:solidFill>
          <a:ln xmlns:a="http://schemas.openxmlformats.org/drawingml/2006/main" w="9525">
            <a:solidFill>
              <a:srgbClr val="08D9F5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9700CBD-6361-4F43-8480-92DC3F964E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305300"/>
            <a:ext cx="61531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30817"/>
          </a:solidFill>
          <a:ln xmlns:a="http://schemas.openxmlformats.org/drawingml/2006/main" w="0">
            <a:solidFill>
              <a:srgbClr val="030817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5F7FB"/>
                </a:solidFill>
                <a:latin typeface="Aptos"/>
                <a:ea typeface="Aptos"/>
                <a:cs typeface="Aptos"/>
              </a:defRPr>
            </a:pPr>
            <a:r>
              <a:t>cd-burner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A9A4779-688C-4BFF-95B6-FA924DB2B6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572000"/>
            <a:ext cx="1428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30817"/>
          </a:solidFill>
          <a:ln xmlns:a="http://schemas.openxmlformats.org/drawingml/2006/main" w="0">
            <a:solidFill>
              <a:srgbClr val="030817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93A8C7"/>
                </a:solidFill>
                <a:latin typeface="Aptos"/>
                <a:ea typeface="Aptos"/>
                <a:cs typeface="Aptos"/>
              </a:defRPr>
            </a:pPr>
            <a:r>
              <a:t>requested 500m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34E44B6-3B8A-4E18-A0DD-7F0C698216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4572000"/>
            <a:ext cx="1143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30817"/>
          </a:solidFill>
          <a:ln xmlns:a="http://schemas.openxmlformats.org/drawingml/2006/main" w="0">
            <a:solidFill>
              <a:srgbClr val="030817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93A8C7"/>
                </a:solidFill>
                <a:latin typeface="Aptos"/>
                <a:ea typeface="Aptos"/>
                <a:cs typeface="Aptos"/>
              </a:defRPr>
            </a:pPr>
            <a:r>
              <a:t>used 220m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4E5B46E-40D0-444C-9E22-7F1A63B2C2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2150" y="4572000"/>
            <a:ext cx="1238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30817"/>
          </a:solidFill>
          <a:ln xmlns:a="http://schemas.openxmlformats.org/drawingml/2006/main" w="0">
            <a:solidFill>
              <a:srgbClr val="030817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FFC928"/>
                </a:solidFill>
                <a:latin typeface="Aptos"/>
                <a:ea typeface="Aptos"/>
                <a:cs typeface="Aptos"/>
              </a:defRPr>
            </a:pPr>
            <a:r>
              <a:t>waste 280m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72016A3-3C44-4C5C-98E0-177C89FF7E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829175"/>
            <a:ext cx="615315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3653"/>
          </a:solidFill>
          <a:ln xmlns:a="http://schemas.openxmlformats.org/drawingml/2006/main" w="9525">
            <a:solidFill>
              <a:srgbClr val="263653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B42FCFE-83B9-4881-9609-6F4894BC34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829175"/>
            <a:ext cx="2707386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D9F5"/>
          </a:solidFill>
          <a:ln xmlns:a="http://schemas.openxmlformats.org/drawingml/2006/main" w="9525">
            <a:solidFill>
              <a:srgbClr val="08D9F5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A6B11B2-97A8-4841-8313-3DCB540111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2038350"/>
            <a:ext cx="3429000" cy="3543300"/>
          </a:xfrm>
          <a:prstGeom xmlns:a="http://schemas.openxmlformats.org/drawingml/2006/main" prst="roundRect">
            <a:avLst>
              <a:gd name="adj" fmla="val 2222"/>
            </a:avLst>
          </a:prstGeom>
          <a:solidFill xmlns:a="http://schemas.openxmlformats.org/drawingml/2006/main">
            <a:srgbClr val="111E36"/>
          </a:solidFill>
          <a:ln xmlns:a="http://schemas.openxmlformats.org/drawingml/2006/main" w="9525">
            <a:solidFill>
              <a:srgbClr val="263653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E6E9562-384B-4ED4-B296-8D7238AD49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381250"/>
            <a:ext cx="26670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30817"/>
          </a:solidFill>
          <a:ln xmlns:a="http://schemas.openxmlformats.org/drawingml/2006/main" w="0">
            <a:solidFill>
              <a:srgbClr val="030817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4800" b="1">
                <a:solidFill>
                  <a:srgbClr val="F5F7FB"/>
                </a:solidFill>
                <a:latin typeface="Aptos Display"/>
                <a:ea typeface="Aptos Display"/>
                <a:cs typeface="Aptos Display"/>
              </a:defRPr>
            </a:pPr>
            <a:r>
              <a:t>32%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2F1B675-D9BA-402C-8FCF-C61989B8F4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3162300"/>
            <a:ext cx="2667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30817"/>
          </a:solidFill>
          <a:ln xmlns:a="http://schemas.openxmlformats.org/drawingml/2006/main" w="0">
            <a:solidFill>
              <a:srgbClr val="030817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F5C7A"/>
                </a:solidFill>
                <a:latin typeface="Aptos"/>
                <a:ea typeface="Aptos"/>
                <a:cs typeface="Aptos"/>
              </a:defRPr>
            </a:pPr>
            <a:r>
              <a:t>CLUSTER EFFICIENCY SCORE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B6AE048-18F2-4A31-8037-1DC966E063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3562350"/>
            <a:ext cx="26670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30817"/>
          </a:solidFill>
          <a:ln xmlns:a="http://schemas.openxmlformats.org/drawingml/2006/main" w="0">
            <a:solidFill>
              <a:srgbClr val="030817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5F7FB"/>
                </a:solidFill>
                <a:latin typeface="Aptos"/>
                <a:ea typeface="Aptos"/>
                <a:cs typeface="Aptos"/>
              </a:defRPr>
            </a:pPr>
            <a:r>
              <a:t>Needs improvement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41FE3FF-1AB4-4863-9A77-595913252B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3962400"/>
            <a:ext cx="25717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30817"/>
          </a:solidFill>
          <a:ln xmlns:a="http://schemas.openxmlformats.org/drawingml/2006/main" w="0">
            <a:solidFill>
              <a:srgbClr val="030817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93A8C7"/>
                </a:solidFill>
                <a:latin typeface="Aptos"/>
                <a:ea typeface="Aptos"/>
                <a:cs typeface="Aptos"/>
              </a:defRPr>
            </a:pPr>
            <a:r>
              <a:t>The score summarizes how efficiently reserved CPU is used across the current workloads.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FA68980-E30A-42AC-A996-8A23565D91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4953000"/>
            <a:ext cx="25717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3653"/>
          </a:solidFill>
          <a:ln xmlns:a="http://schemas.openxmlformats.org/drawingml/2006/main" w="9525">
            <a:solidFill>
              <a:srgbClr val="263653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7CB0A4DC-3E88-41CF-9CC6-C48A3EB3AD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4953000"/>
            <a:ext cx="8191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D9F5"/>
          </a:solidFill>
          <a:ln xmlns:a="http://schemas.openxmlformats.org/drawingml/2006/main" w="9525">
            <a:solidFill>
              <a:srgbClr val="08D9F5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CA52579B-C1B7-4B55-815F-EDA992107D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0557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3653"/>
          </a:solidFill>
          <a:ln xmlns:a="http://schemas.openxmlformats.org/drawingml/2006/main" w="9525">
            <a:solidFill>
              <a:srgbClr val="263653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D4C231BD-D83E-4BED-8AB4-D0617BEB54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43675"/>
            <a:ext cx="8763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30817"/>
          </a:solidFill>
          <a:ln xmlns:a="http://schemas.openxmlformats.org/drawingml/2006/main" w="0">
            <a:solidFill>
              <a:srgbClr val="030817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93A8C7"/>
                </a:solidFill>
                <a:latin typeface="Aptos"/>
                <a:ea typeface="Aptos"/>
                <a:cs typeface="Aptos"/>
              </a:defRPr>
            </a:pPr>
            <a:r>
              <a:t>Source: dashboard screenshot example; values are demonstration data, not production benchmarks</a:t>
            </a:r>
          </a:p>
        </p:txBody>
      </p:sp>
    </p:spTree>
    <p:extLst>
      <p:ext uri="{BB962C8B-B14F-4D97-AF65-F5344CB8AC3E}">
        <p14:creationId xmlns:p14="http://schemas.microsoft.com/office/powerpoint/2010/main" val="2093918284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29771D8-D7C0-434F-A78C-AE86E7AE7F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30817"/>
          </a:solidFill>
          <a:ln xmlns:a="http://schemas.openxmlformats.org/drawingml/2006/main" w="9525">
            <a:solidFill>
              <a:srgbClr val="030817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E10A6C8-CA32-4382-878E-AC8E3FDAE9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6725"/>
            <a:ext cx="2095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D9F5"/>
          </a:solidFill>
          <a:ln xmlns:a="http://schemas.openxmlformats.org/drawingml/2006/main" w="9525">
            <a:solidFill>
              <a:srgbClr val="08D9F5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5B07722-F4B9-4E55-993D-99DBD56828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61950"/>
            <a:ext cx="36957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30817"/>
          </a:solidFill>
          <a:ln xmlns:a="http://schemas.openxmlformats.org/drawingml/2006/main" w="0">
            <a:solidFill>
              <a:srgbClr val="030817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8D9F5"/>
                </a:solidFill>
                <a:latin typeface="Aptos"/>
                <a:ea typeface="Aptos"/>
                <a:cs typeface="Aptos"/>
              </a:defRPr>
            </a:pPr>
            <a:r>
              <a:t>DETECTION WORKFLOW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F2F49AA-A474-4B9A-848E-FF945F3065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38225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30817"/>
          </a:solidFill>
          <a:ln xmlns:a="http://schemas.openxmlformats.org/drawingml/2006/main" w="0">
            <a:solidFill>
              <a:srgbClr val="030817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5F7FB"/>
                </a:solidFill>
                <a:latin typeface="Aptos Display"/>
                <a:ea typeface="Aptos Display"/>
                <a:cs typeface="Aptos Display"/>
              </a:defRPr>
            </a:pPr>
            <a:r>
              <a:t>Cost Detective turns cluster state into evidence and a fix.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F6F03E4-669D-4021-B6E6-921BD0CA98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562100"/>
            <a:ext cx="9906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30817"/>
          </a:solidFill>
          <a:ln xmlns:a="http://schemas.openxmlformats.org/drawingml/2006/main" w="0">
            <a:solidFill>
              <a:srgbClr val="030817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93A8C7"/>
                </a:solidFill>
                <a:latin typeface="Aptos"/>
                <a:ea typeface="Aptos"/>
                <a:cs typeface="Aptos"/>
              </a:defRPr>
            </a:pPr>
            <a:r>
              <a:t>Rules preserve the technical detail needed to act.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064E161-EA89-431D-B3E6-2304E69F82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400050"/>
            <a:ext cx="4000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30817"/>
          </a:solidFill>
          <a:ln xmlns:a="http://schemas.openxmlformats.org/drawingml/2006/main" w="0">
            <a:solidFill>
              <a:srgbClr val="030817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93A8C7"/>
                </a:solidFill>
                <a:latin typeface="Aptos"/>
                <a:ea typeface="Aptos"/>
                <a:cs typeface="Aptos"/>
              </a:defRPr>
            </a:pPr>
            <a:r>
              <a:t>05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D0F0AE7-01E3-4AD5-9030-B1F44A6E5C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400300"/>
            <a:ext cx="2381250" cy="125730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0C162B"/>
          </a:solidFill>
          <a:ln xmlns:a="http://schemas.openxmlformats.org/drawingml/2006/main" w="9525">
            <a:solidFill>
              <a:srgbClr val="263653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189469E-766F-4EEE-8505-CECA9128F2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400300"/>
            <a:ext cx="47625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D9F5"/>
          </a:solidFill>
          <a:ln xmlns:a="http://schemas.openxmlformats.org/drawingml/2006/main" w="9525">
            <a:solidFill>
              <a:srgbClr val="08D9F5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CD25A0D-56F6-47E3-A1F8-CEB1BBEF04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495550"/>
            <a:ext cx="21145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30817"/>
          </a:solidFill>
          <a:ln xmlns:a="http://schemas.openxmlformats.org/drawingml/2006/main" w="0">
            <a:solidFill>
              <a:srgbClr val="030817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5F7FB"/>
                </a:solidFill>
                <a:latin typeface="Aptos"/>
                <a:ea typeface="Aptos"/>
                <a:cs typeface="Aptos"/>
              </a:defRPr>
            </a:pPr>
            <a:r>
              <a:t>Observe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4ECD82E-C6B1-471B-9869-8666B195F7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781300"/>
            <a:ext cx="21145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30817"/>
          </a:solidFill>
          <a:ln xmlns:a="http://schemas.openxmlformats.org/drawingml/2006/main" w="0">
            <a:solidFill>
              <a:srgbClr val="030817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93A8C7"/>
                </a:solidFill>
                <a:latin typeface="Aptos"/>
                <a:ea typeface="Aptos"/>
                <a:cs typeface="Aptos"/>
              </a:defRPr>
            </a:pPr>
            <a:r>
              <a:t>Deployments, HPA conditions and Prometheus summary metrics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382F075-2488-4FF4-9228-930E6B2CD4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400300"/>
            <a:ext cx="2381250" cy="125730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0C162B"/>
          </a:solidFill>
          <a:ln xmlns:a="http://schemas.openxmlformats.org/drawingml/2006/main" w="9525">
            <a:solidFill>
              <a:srgbClr val="263653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BAA7A69-2D1B-43E1-B5CB-AEBE89B127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400300"/>
            <a:ext cx="47625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5C7A"/>
          </a:solidFill>
          <a:ln xmlns:a="http://schemas.openxmlformats.org/drawingml/2006/main" w="9525">
            <a:solidFill>
              <a:srgbClr val="FF5C7A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9C8A276-289C-4958-AB77-CF2EBFD8A0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2495550"/>
            <a:ext cx="21145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30817"/>
          </a:solidFill>
          <a:ln xmlns:a="http://schemas.openxmlformats.org/drawingml/2006/main" w="0">
            <a:solidFill>
              <a:srgbClr val="030817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5F7FB"/>
                </a:solidFill>
                <a:latin typeface="Aptos"/>
                <a:ea typeface="Aptos"/>
                <a:cs typeface="Aptos"/>
              </a:defRPr>
            </a:pPr>
            <a:r>
              <a:t>Detect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4F08141-6931-4557-9039-5EFF8C0FDC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2781300"/>
            <a:ext cx="21145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30817"/>
          </a:solidFill>
          <a:ln xmlns:a="http://schemas.openxmlformats.org/drawingml/2006/main" w="0">
            <a:solidFill>
              <a:srgbClr val="030817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93A8C7"/>
                </a:solidFill>
                <a:latin typeface="Aptos"/>
                <a:ea typeface="Aptos"/>
                <a:cs typeface="Aptos"/>
              </a:defRPr>
            </a:pPr>
            <a:r>
              <a:t>Missing CPU/memory requests and false HPA conditions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73DEAB2-0319-49B3-91FF-07C58C15D8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2400300"/>
            <a:ext cx="2381250" cy="125730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0C162B"/>
          </a:solidFill>
          <a:ln xmlns:a="http://schemas.openxmlformats.org/drawingml/2006/main" w="9525">
            <a:solidFill>
              <a:srgbClr val="263653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8B0DDDA-2A3C-4F2E-BBA5-AEF9A7E76C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2400300"/>
            <a:ext cx="47625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C928"/>
          </a:solidFill>
          <a:ln xmlns:a="http://schemas.openxmlformats.org/drawingml/2006/main" w="9525">
            <a:solidFill>
              <a:srgbClr val="FFC928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F65F564-25B9-4463-A154-940B3FF616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2495550"/>
            <a:ext cx="21145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30817"/>
          </a:solidFill>
          <a:ln xmlns:a="http://schemas.openxmlformats.org/drawingml/2006/main" w="0">
            <a:solidFill>
              <a:srgbClr val="030817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5F7FB"/>
                </a:solidFill>
                <a:latin typeface="Aptos"/>
                <a:ea typeface="Aptos"/>
                <a:cs typeface="Aptos"/>
              </a:defRPr>
            </a:pPr>
            <a:r>
              <a:t>Explain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E150A5C-A86F-4D3A-8577-27D94205E8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2781300"/>
            <a:ext cx="21145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30817"/>
          </a:solidFill>
          <a:ln xmlns:a="http://schemas.openxmlformats.org/drawingml/2006/main" w="0">
            <a:solidFill>
              <a:srgbClr val="030817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93A8C7"/>
                </a:solidFill>
                <a:latin typeface="Aptos"/>
                <a:ea typeface="Aptos"/>
                <a:cs typeface="Aptos"/>
              </a:defRPr>
            </a:pPr>
            <a:r>
              <a:t>Severity, title and structured evidence for each finding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B260F9F-4D94-41C9-937A-F2BF7512DD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82150" y="2400300"/>
            <a:ext cx="2000250" cy="125730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0C162B"/>
          </a:solidFill>
          <a:ln xmlns:a="http://schemas.openxmlformats.org/drawingml/2006/main" w="9525">
            <a:solidFill>
              <a:srgbClr val="263653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C1AA712-7933-40A6-9CC5-0053E2CF66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82150" y="2400300"/>
            <a:ext cx="47625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D3A6"/>
          </a:solidFill>
          <a:ln xmlns:a="http://schemas.openxmlformats.org/drawingml/2006/main" w="9525">
            <a:solidFill>
              <a:srgbClr val="22D3A6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EC74540-E463-4A3F-A744-AE59483537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2495550"/>
            <a:ext cx="17335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30817"/>
          </a:solidFill>
          <a:ln xmlns:a="http://schemas.openxmlformats.org/drawingml/2006/main" w="0">
            <a:solidFill>
              <a:srgbClr val="030817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5F7FB"/>
                </a:solidFill>
                <a:latin typeface="Aptos"/>
                <a:ea typeface="Aptos"/>
                <a:cs typeface="Aptos"/>
              </a:defRPr>
            </a:pPr>
            <a:r>
              <a:t>Recommend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9C048A3-0B9F-4DE7-B6C1-78E30EED8D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2781300"/>
            <a:ext cx="17335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30817"/>
          </a:solidFill>
          <a:ln xmlns:a="http://schemas.openxmlformats.org/drawingml/2006/main" w="0">
            <a:solidFill>
              <a:srgbClr val="030817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93A8C7"/>
                </a:solidFill>
                <a:latin typeface="Aptos"/>
                <a:ea typeface="Aptos"/>
                <a:cs typeface="Aptos"/>
              </a:defRPr>
            </a:pPr>
            <a:r>
              <a:t>A concrete configuration or investigation step</a:t>
            </a:r>
          </a:p>
        </p:txBody>
      </p:sp>
      <p:cxnSp>
        <p:nvCxnSpPr>
          <p:cNvPr id="23" name=""/>
          <p:cNvCxnSpPr>
            <a:stCxn xmlns:a="http://schemas.openxmlformats.org/drawingml/2006/main" id="7" idx="3"/>
            <a:endCxn xmlns:a="http://schemas.openxmlformats.org/drawingml/2006/main" id="11" idx="1"/>
          </p:cNvCxnSpPr>
          <p:nvPr/>
        </p:nvCxnSpPr>
        <p:spPr>
          <a:xfrm xmlns:a="http://schemas.openxmlformats.org/drawingml/2006/main">
            <a:off x="3048000" y="3028950"/>
            <a:ext cx="5905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A8FB8"/>
            </a:solidFill>
            <a:prstDash val="solid"/>
          </a:ln>
        </p:spPr>
      </p:cxnSp>
      <p:cxnSp>
        <p:nvCxnSpPr>
          <p:cNvPr id="24" name=""/>
          <p:cNvCxnSpPr>
            <a:stCxn xmlns:a="http://schemas.openxmlformats.org/drawingml/2006/main" id="11" idx="3"/>
            <a:endCxn xmlns:a="http://schemas.openxmlformats.org/drawingml/2006/main" id="15" idx="1"/>
          </p:cNvCxnSpPr>
          <p:nvPr/>
        </p:nvCxnSpPr>
        <p:spPr>
          <a:xfrm xmlns:a="http://schemas.openxmlformats.org/drawingml/2006/main">
            <a:off x="6019800" y="3028950"/>
            <a:ext cx="5905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A8FB8"/>
            </a:solidFill>
            <a:prstDash val="solid"/>
          </a:ln>
        </p:spPr>
      </p:cxnSp>
      <p:cxnSp>
        <p:nvCxnSpPr>
          <p:cNvPr id="25" name=""/>
          <p:cNvCxnSpPr>
            <a:stCxn xmlns:a="http://schemas.openxmlformats.org/drawingml/2006/main" id="15" idx="3"/>
            <a:endCxn xmlns:a="http://schemas.openxmlformats.org/drawingml/2006/main" id="19" idx="1"/>
          </p:cNvCxnSpPr>
          <p:nvPr/>
        </p:nvCxnSpPr>
        <p:spPr>
          <a:xfrm xmlns:a="http://schemas.openxmlformats.org/drawingml/2006/main">
            <a:off x="8991600" y="3028950"/>
            <a:ext cx="5905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A8FB8"/>
            </a:solidFill>
            <a:prstDash val="solid"/>
          </a:ln>
        </p:spPr>
      </p:cxn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2F5189C-E0F0-4D15-B2AF-D2FE43AC77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2724150"/>
            <a:ext cx="400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30817"/>
          </a:solidFill>
          <a:ln xmlns:a="http://schemas.openxmlformats.org/drawingml/2006/main" w="0">
            <a:solidFill>
              <a:srgbClr val="030817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263653"/>
                </a:solidFill>
                <a:latin typeface="Aptos"/>
                <a:ea typeface="Aptos"/>
                <a:cs typeface="Aptos"/>
              </a:defRPr>
            </a:pPr>
            <a:r>
              <a:t>→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B9D7882-72C7-4666-9ECB-FB502B2536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2724150"/>
            <a:ext cx="400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30817"/>
          </a:solidFill>
          <a:ln xmlns:a="http://schemas.openxmlformats.org/drawingml/2006/main" w="0">
            <a:solidFill>
              <a:srgbClr val="030817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263653"/>
                </a:solidFill>
                <a:latin typeface="Aptos"/>
                <a:ea typeface="Aptos"/>
                <a:cs typeface="Aptos"/>
              </a:defRPr>
            </a:pPr>
            <a:r>
              <a:t>→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ED415FD-3AA0-473C-9CEA-C6B4D94B6C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2724150"/>
            <a:ext cx="400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30817"/>
          </a:solidFill>
          <a:ln xmlns:a="http://schemas.openxmlformats.org/drawingml/2006/main" w="0">
            <a:solidFill>
              <a:srgbClr val="030817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263653"/>
                </a:solidFill>
                <a:latin typeface="Aptos"/>
                <a:ea typeface="Aptos"/>
                <a:cs typeface="Aptos"/>
              </a:defRPr>
            </a:pPr>
            <a:r>
              <a:t>→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961B50E-CED7-4E4E-8C76-A575A77A9B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171950"/>
            <a:ext cx="1619250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111E36"/>
          </a:solidFill>
          <a:ln xmlns:a="http://schemas.openxmlformats.org/drawingml/2006/main" w="9525">
            <a:solidFill>
              <a:srgbClr val="111E36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09CB128-5B82-47F0-A43B-91FAD53C40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171950"/>
            <a:ext cx="1619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30817"/>
          </a:solidFill>
          <a:ln xmlns:a="http://schemas.openxmlformats.org/drawingml/2006/main" w="0">
            <a:solidFill>
              <a:srgbClr val="030817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08D9F5"/>
                </a:solidFill>
                <a:latin typeface="Aptos"/>
                <a:ea typeface="Aptos"/>
                <a:cs typeface="Aptos"/>
              </a:defRPr>
            </a:pPr>
            <a:r>
              <a:t>Kubernetes API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F17715C-FC6D-41F3-B9CD-0C10A7DF73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81425" y="4171950"/>
            <a:ext cx="1619250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111E36"/>
          </a:solidFill>
          <a:ln xmlns:a="http://schemas.openxmlformats.org/drawingml/2006/main" w="9525">
            <a:solidFill>
              <a:srgbClr val="111E36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EE0B2172-5896-46E7-9120-B93AA0C303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81425" y="4171950"/>
            <a:ext cx="1619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30817"/>
          </a:solidFill>
          <a:ln xmlns:a="http://schemas.openxmlformats.org/drawingml/2006/main" w="0">
            <a:solidFill>
              <a:srgbClr val="030817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5C7A"/>
                </a:solidFill>
                <a:latin typeface="Aptos"/>
                <a:ea typeface="Aptos"/>
                <a:cs typeface="Aptos"/>
              </a:defRPr>
            </a:pPr>
            <a:r>
              <a:t>rules.py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BFF29B79-A710-4F17-9C7D-3D119893DB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4171950"/>
            <a:ext cx="1619250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111E36"/>
          </a:solidFill>
          <a:ln xmlns:a="http://schemas.openxmlformats.org/drawingml/2006/main" w="9525">
            <a:solidFill>
              <a:srgbClr val="111E36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E6E7D138-590C-4D64-A5C4-663EC2ADA8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4171950"/>
            <a:ext cx="1619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30817"/>
          </a:solidFill>
          <a:ln xmlns:a="http://schemas.openxmlformats.org/drawingml/2006/main" w="0">
            <a:solidFill>
              <a:srgbClr val="030817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C928"/>
                </a:solidFill>
                <a:latin typeface="Aptos"/>
                <a:ea typeface="Aptos"/>
                <a:cs typeface="Aptos"/>
              </a:defRPr>
            </a:pPr>
            <a:r>
              <a:t>finding.evidence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8FB4288C-A8B0-447E-9F04-2F93E7F4C6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4171950"/>
            <a:ext cx="1619250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111E36"/>
          </a:solidFill>
          <a:ln xmlns:a="http://schemas.openxmlformats.org/drawingml/2006/main" w="9525">
            <a:solidFill>
              <a:srgbClr val="111E36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DEAD27B4-8451-4AE8-BF7D-8DFC4A380A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4171950"/>
            <a:ext cx="1619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30817"/>
          </a:solidFill>
          <a:ln xmlns:a="http://schemas.openxmlformats.org/drawingml/2006/main" w="0">
            <a:solidFill>
              <a:srgbClr val="030817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22D3A6"/>
                </a:solidFill>
                <a:latin typeface="Aptos"/>
                <a:ea typeface="Aptos"/>
                <a:cs typeface="Aptos"/>
              </a:defRPr>
            </a:pPr>
            <a:r>
              <a:t>finding.fix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3BC58E41-A0EC-43AC-A9C6-B376E3F418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14900"/>
            <a:ext cx="2000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30817"/>
          </a:solidFill>
          <a:ln xmlns:a="http://schemas.openxmlformats.org/drawingml/2006/main" w="0">
            <a:solidFill>
              <a:srgbClr val="030817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93A8C7"/>
                </a:solidFill>
                <a:latin typeface="Aptos"/>
                <a:ea typeface="Aptos"/>
                <a:cs typeface="Aptos"/>
              </a:defRPr>
            </a:pPr>
            <a:r>
              <a:t>Example finding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C238D814-6528-492C-ADBE-6ED65227E6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00650"/>
            <a:ext cx="4381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30817"/>
          </a:solidFill>
          <a:ln xmlns:a="http://schemas.openxmlformats.org/drawingml/2006/main" w="0">
            <a:solidFill>
              <a:srgbClr val="030817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5F7FB"/>
                </a:solidFill>
                <a:latin typeface="Aptos"/>
                <a:ea typeface="Aptos"/>
                <a:cs typeface="Aptos"/>
              </a:defRPr>
            </a:pPr>
            <a:r>
              <a:t>CPU request appears highly overprovisioned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330EE2C0-D2B9-4BDD-A0D8-76D9383650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5200650"/>
            <a:ext cx="45720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30817"/>
          </a:solidFill>
          <a:ln xmlns:a="http://schemas.openxmlformats.org/drawingml/2006/main" w="0">
            <a:solidFill>
              <a:srgbClr val="030817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650" b="1">
                <a:solidFill>
                  <a:srgbClr val="22D3A6"/>
                </a:solidFill>
                <a:latin typeface="Aptos"/>
                <a:ea typeface="Aptos"/>
                <a:cs typeface="Aptos"/>
              </a:defRPr>
            </a:pPr>
            <a:r>
              <a:t>Reduce CPU request from 100m to 10m.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BB3B967A-4834-4A6F-AFC3-3FE17A969C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0557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3653"/>
          </a:solidFill>
          <a:ln xmlns:a="http://schemas.openxmlformats.org/drawingml/2006/main" w="9525">
            <a:solidFill>
              <a:srgbClr val="263653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D1BA4580-0270-40B8-89F8-2A529A96E9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43675"/>
            <a:ext cx="8763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30817"/>
          </a:solidFill>
          <a:ln xmlns:a="http://schemas.openxmlformats.org/drawingml/2006/main" w="0">
            <a:solidFill>
              <a:srgbClr val="030817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93A8C7"/>
                </a:solidFill>
                <a:latin typeface="Aptos"/>
                <a:ea typeface="Aptos"/>
                <a:cs typeface="Aptos"/>
              </a:defRPr>
            </a:pPr>
            <a:r>
              <a:t>Source: apps/api/app/rules.py and apps/api/app/main.py</a:t>
            </a:r>
          </a:p>
        </p:txBody>
      </p:sp>
    </p:spTree>
    <p:extLst>
      <p:ext uri="{BB962C8B-B14F-4D97-AF65-F5344CB8AC3E}">
        <p14:creationId xmlns:p14="http://schemas.microsoft.com/office/powerpoint/2010/main" val="816236760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0178DB1-AF4C-4BE2-90CA-7DC40C9C15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30817"/>
          </a:solidFill>
          <a:ln xmlns:a="http://schemas.openxmlformats.org/drawingml/2006/main" w="9525">
            <a:solidFill>
              <a:srgbClr val="030817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2B17F5F-AF32-4796-8A9F-9734BA3F1B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6725"/>
            <a:ext cx="2095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D9F5"/>
          </a:solidFill>
          <a:ln xmlns:a="http://schemas.openxmlformats.org/drawingml/2006/main" w="9525">
            <a:solidFill>
              <a:srgbClr val="08D9F5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B7AEA05-218F-4487-B2EF-4151736160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61950"/>
            <a:ext cx="36957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30817"/>
          </a:solidFill>
          <a:ln xmlns:a="http://schemas.openxmlformats.org/drawingml/2006/main" w="0">
            <a:solidFill>
              <a:srgbClr val="030817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8D9F5"/>
                </a:solidFill>
                <a:latin typeface="Aptos"/>
                <a:ea typeface="Aptos"/>
                <a:cs typeface="Aptos"/>
              </a:defRPr>
            </a:pPr>
            <a:r>
              <a:t>SYSTEM ARCHITECTURE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7586A05-3D42-4AF1-9FD0-13100A783F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38225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30817"/>
          </a:solidFill>
          <a:ln xmlns:a="http://schemas.openxmlformats.org/drawingml/2006/main" w="0">
            <a:solidFill>
              <a:srgbClr val="030817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5F7FB"/>
                </a:solidFill>
                <a:latin typeface="Aptos Display"/>
                <a:ea typeface="Aptos Display"/>
                <a:cs typeface="Aptos Display"/>
              </a:defRPr>
            </a:pPr>
            <a:r>
              <a:t>A small stack closes the loop from Kubernetes signal to durable insight.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C286DE9-C6C7-434D-9D39-87B0F39A32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562100"/>
            <a:ext cx="9906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30817"/>
          </a:solidFill>
          <a:ln xmlns:a="http://schemas.openxmlformats.org/drawingml/2006/main" w="0">
            <a:solidFill>
              <a:srgbClr val="030817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93A8C7"/>
                </a:solidFill>
                <a:latin typeface="Aptos"/>
                <a:ea typeface="Aptos"/>
                <a:cs typeface="Aptos"/>
              </a:defRPr>
            </a:pPr>
            <a:r>
              <a:t>Each layer has a narrow operational responsibility.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63138CF-AB61-4435-A331-3ADDC5BA1C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400050"/>
            <a:ext cx="4000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30817"/>
          </a:solidFill>
          <a:ln xmlns:a="http://schemas.openxmlformats.org/drawingml/2006/main" w="0">
            <a:solidFill>
              <a:srgbClr val="030817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93A8C7"/>
                </a:solidFill>
                <a:latin typeface="Aptos"/>
                <a:ea typeface="Aptos"/>
                <a:cs typeface="Aptos"/>
              </a:defRPr>
            </a:pPr>
            <a:r>
              <a:t>06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ABA638B-63CA-4D21-A237-673C75FCDE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924050"/>
            <a:ext cx="1562100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111E36"/>
          </a:solidFill>
          <a:ln xmlns:a="http://schemas.openxmlformats.org/drawingml/2006/main" w="9525">
            <a:solidFill>
              <a:srgbClr val="111E36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8C7A33D-295A-4A59-89A3-90F63E7751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924050"/>
            <a:ext cx="15621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30817"/>
          </a:solidFill>
          <a:ln xmlns:a="http://schemas.openxmlformats.org/drawingml/2006/main" w="0">
            <a:solidFill>
              <a:srgbClr val="030817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08D9F5"/>
                </a:solidFill>
                <a:latin typeface="Aptos"/>
                <a:ea typeface="Aptos"/>
                <a:cs typeface="Aptos"/>
              </a:defRPr>
            </a:pPr>
            <a:r>
              <a:t>USER EXPERIENCE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1618FF6-0B28-45C6-8F9F-D84171706E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1924050"/>
            <a:ext cx="1562100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111E36"/>
          </a:solidFill>
          <a:ln xmlns:a="http://schemas.openxmlformats.org/drawingml/2006/main" w="9525">
            <a:solidFill>
              <a:srgbClr val="111E36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16E668C-6EFB-465D-9873-0078EC14E6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1924050"/>
            <a:ext cx="15621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30817"/>
          </a:solidFill>
          <a:ln xmlns:a="http://schemas.openxmlformats.org/drawingml/2006/main" w="0">
            <a:solidFill>
              <a:srgbClr val="030817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5C7A"/>
                </a:solidFill>
                <a:latin typeface="Aptos"/>
                <a:ea typeface="Aptos"/>
                <a:cs typeface="Aptos"/>
              </a:defRPr>
            </a:pPr>
            <a:r>
              <a:t>ANALYSIS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6381012-09B3-4A88-810E-DD9B3826D8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1924050"/>
            <a:ext cx="1809750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111E36"/>
          </a:solidFill>
          <a:ln xmlns:a="http://schemas.openxmlformats.org/drawingml/2006/main" w="9525">
            <a:solidFill>
              <a:srgbClr val="111E36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3FE6CD5-A99E-40F1-8CF6-7F12AD223D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1924050"/>
            <a:ext cx="1809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30817"/>
          </a:solidFill>
          <a:ln xmlns:a="http://schemas.openxmlformats.org/drawingml/2006/main" w="0">
            <a:solidFill>
              <a:srgbClr val="030817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C928"/>
                </a:solidFill>
                <a:latin typeface="Aptos"/>
                <a:ea typeface="Aptos"/>
                <a:cs typeface="Aptos"/>
              </a:defRPr>
            </a:pPr>
            <a:r>
              <a:t>SIGNALS + HISTORY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BF42C29-8EB0-4151-B636-EFEC5B5714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419350"/>
            <a:ext cx="2571750" cy="1162050"/>
          </a:xfrm>
          <a:prstGeom xmlns:a="http://schemas.openxmlformats.org/drawingml/2006/main" prst="roundRect">
            <a:avLst>
              <a:gd name="adj" fmla="val 6557"/>
            </a:avLst>
          </a:prstGeom>
          <a:solidFill xmlns:a="http://schemas.openxmlformats.org/drawingml/2006/main">
            <a:srgbClr val="0C162B"/>
          </a:solidFill>
          <a:ln xmlns:a="http://schemas.openxmlformats.org/drawingml/2006/main" w="9525">
            <a:solidFill>
              <a:srgbClr val="263653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D00F271-8C0A-4F62-B158-D1E18C736E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419350"/>
            <a:ext cx="47625" cy="1162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D9F5"/>
          </a:solidFill>
          <a:ln xmlns:a="http://schemas.openxmlformats.org/drawingml/2006/main" w="9525">
            <a:solidFill>
              <a:srgbClr val="08D9F5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178DCC7-09FB-4739-8CCE-2D4737D74A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514600"/>
            <a:ext cx="23050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30817"/>
          </a:solidFill>
          <a:ln xmlns:a="http://schemas.openxmlformats.org/drawingml/2006/main" w="0">
            <a:solidFill>
              <a:srgbClr val="030817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5F7FB"/>
                </a:solidFill>
                <a:latin typeface="Aptos"/>
                <a:ea typeface="Aptos"/>
                <a:cs typeface="Aptos"/>
              </a:defRPr>
            </a:pPr>
            <a:r>
              <a:t>cd-web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B661CE0-1EE7-4A27-A917-BECF555FBD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800350"/>
            <a:ext cx="23050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30817"/>
          </a:solidFill>
          <a:ln xmlns:a="http://schemas.openxmlformats.org/drawingml/2006/main" w="0">
            <a:solidFill>
              <a:srgbClr val="030817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93A8C7"/>
                </a:solidFill>
                <a:latin typeface="Aptos"/>
                <a:ea typeface="Aptos"/>
                <a:cs typeface="Aptos"/>
              </a:defRPr>
            </a:pPr>
            <a:r>
              <a:t>Next.js + TypeScript dashboard</a:t>
            </a:r>
          </a:p>
          <a:p xmlns:a="http://schemas.openxmlformats.org/drawingml/2006/main">
            <a:pPr algn="l">
              <a:defRPr sz="900" b="0">
                <a:solidFill>
                  <a:srgbClr val="93A8C7"/>
                </a:solidFill>
                <a:latin typeface="Aptos"/>
                <a:ea typeface="Aptos"/>
                <a:cs typeface="Aptos"/>
              </a:defRPr>
            </a:pPr>
            <a:r>
              <a:t>Server-side API routes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747528F-76AB-4C74-94B0-3FD74C603D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2419350"/>
            <a:ext cx="2571750" cy="1162050"/>
          </a:xfrm>
          <a:prstGeom xmlns:a="http://schemas.openxmlformats.org/drawingml/2006/main" prst="roundRect">
            <a:avLst>
              <a:gd name="adj" fmla="val 6557"/>
            </a:avLst>
          </a:prstGeom>
          <a:solidFill xmlns:a="http://schemas.openxmlformats.org/drawingml/2006/main">
            <a:srgbClr val="0C162B"/>
          </a:solidFill>
          <a:ln xmlns:a="http://schemas.openxmlformats.org/drawingml/2006/main" w="9525">
            <a:solidFill>
              <a:srgbClr val="263653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4E101D3-BC69-4CDE-98B2-190095F3F8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2419350"/>
            <a:ext cx="47625" cy="1162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5C7A"/>
          </a:solidFill>
          <a:ln xmlns:a="http://schemas.openxmlformats.org/drawingml/2006/main" w="9525">
            <a:solidFill>
              <a:srgbClr val="FF5C7A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6890906-5912-48DD-A357-24C6877CFD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2514600"/>
            <a:ext cx="23050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30817"/>
          </a:solidFill>
          <a:ln xmlns:a="http://schemas.openxmlformats.org/drawingml/2006/main" w="0">
            <a:solidFill>
              <a:srgbClr val="030817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5F7FB"/>
                </a:solidFill>
                <a:latin typeface="Aptos"/>
                <a:ea typeface="Aptos"/>
                <a:cs typeface="Aptos"/>
              </a:defRPr>
            </a:pPr>
            <a:r>
              <a:t>cd-api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20A1D7F-D5AA-4608-A2BE-A14811BCB4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2800350"/>
            <a:ext cx="23050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30817"/>
          </a:solidFill>
          <a:ln xmlns:a="http://schemas.openxmlformats.org/drawingml/2006/main" w="0">
            <a:solidFill>
              <a:srgbClr val="030817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93A8C7"/>
                </a:solidFill>
                <a:latin typeface="Aptos"/>
                <a:ea typeface="Aptos"/>
                <a:cs typeface="Aptos"/>
              </a:defRPr>
            </a:pPr>
            <a:r>
              <a:t>FastAPI analysis surface</a:t>
            </a:r>
          </a:p>
          <a:p xmlns:a="http://schemas.openxmlformats.org/drawingml/2006/main">
            <a:pPr algn="l">
              <a:defRPr sz="900" b="0">
                <a:solidFill>
                  <a:srgbClr val="93A8C7"/>
                </a:solidFill>
                <a:latin typeface="Aptos"/>
                <a:ea typeface="Aptos"/>
                <a:cs typeface="Aptos"/>
              </a:defRPr>
            </a:pPr>
            <a:r>
              <a:t>Kubernetes Python client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E6854D2-1BD6-4117-8FC2-7CC3F84339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2266950"/>
            <a:ext cx="3238500" cy="1009650"/>
          </a:xfrm>
          <a:prstGeom xmlns:a="http://schemas.openxmlformats.org/drawingml/2006/main" prst="roundRect">
            <a:avLst>
              <a:gd name="adj" fmla="val 7547"/>
            </a:avLst>
          </a:prstGeom>
          <a:solidFill xmlns:a="http://schemas.openxmlformats.org/drawingml/2006/main">
            <a:srgbClr val="0C162B"/>
          </a:solidFill>
          <a:ln xmlns:a="http://schemas.openxmlformats.org/drawingml/2006/main" w="9525">
            <a:solidFill>
              <a:srgbClr val="263653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AA406F0-DAB0-4ADD-8342-C604B10B8F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2266950"/>
            <a:ext cx="47625" cy="1009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C928"/>
          </a:solidFill>
          <a:ln xmlns:a="http://schemas.openxmlformats.org/drawingml/2006/main" w="9525">
            <a:solidFill>
              <a:srgbClr val="FFC928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DAEE023-9AC6-410D-A33C-2B918BAD7A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2362200"/>
            <a:ext cx="29718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30817"/>
          </a:solidFill>
          <a:ln xmlns:a="http://schemas.openxmlformats.org/drawingml/2006/main" w="0">
            <a:solidFill>
              <a:srgbClr val="030817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5F7FB"/>
                </a:solidFill>
                <a:latin typeface="Aptos"/>
                <a:ea typeface="Aptos"/>
                <a:cs typeface="Aptos"/>
              </a:defRPr>
            </a:pPr>
            <a:r>
              <a:t>Kubernetes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E9035F9-273E-47FD-AAC8-BBECF55D11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2647950"/>
            <a:ext cx="29718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30817"/>
          </a:solidFill>
          <a:ln xmlns:a="http://schemas.openxmlformats.org/drawingml/2006/main" w="0">
            <a:solidFill>
              <a:srgbClr val="030817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93A8C7"/>
                </a:solidFill>
                <a:latin typeface="Aptos"/>
                <a:ea typeface="Aptos"/>
                <a:cs typeface="Aptos"/>
              </a:defRPr>
            </a:pPr>
            <a:r>
              <a:t>Deployments, HPA, metrics-server</a:t>
            </a:r>
          </a:p>
          <a:p xmlns:a="http://schemas.openxmlformats.org/drawingml/2006/main">
            <a:pPr algn="l">
              <a:defRPr sz="900" b="0">
                <a:solidFill>
                  <a:srgbClr val="93A8C7"/>
                </a:solidFill>
                <a:latin typeface="Aptos"/>
                <a:ea typeface="Aptos"/>
                <a:cs typeface="Aptos"/>
              </a:defRPr>
            </a:pPr>
            <a:r>
              <a:t>Local k3d demo cluster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1BB8BAF-24D8-43D0-8F06-D3B7F91A9F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3524250"/>
            <a:ext cx="323850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0C162B"/>
          </a:solidFill>
          <a:ln xmlns:a="http://schemas.openxmlformats.org/drawingml/2006/main" w="9525">
            <a:solidFill>
              <a:srgbClr val="263653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0C07DB8-930E-4D37-BA0C-ABEF047307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3524250"/>
            <a:ext cx="47625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D9F5"/>
          </a:solidFill>
          <a:ln xmlns:a="http://schemas.openxmlformats.org/drawingml/2006/main" w="9525">
            <a:solidFill>
              <a:srgbClr val="08D9F5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3523C65-F738-4A86-8488-38F1A63D8D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3619500"/>
            <a:ext cx="29718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30817"/>
          </a:solidFill>
          <a:ln xmlns:a="http://schemas.openxmlformats.org/drawingml/2006/main" w="0">
            <a:solidFill>
              <a:srgbClr val="030817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5F7FB"/>
                </a:solidFill>
                <a:latin typeface="Aptos"/>
                <a:ea typeface="Aptos"/>
                <a:cs typeface="Aptos"/>
              </a:defRPr>
            </a:pPr>
            <a:r>
              <a:t>Prometheus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7DC6EF5-B466-4638-9590-4662F93C6B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3905250"/>
            <a:ext cx="29718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30817"/>
          </a:solidFill>
          <a:ln xmlns:a="http://schemas.openxmlformats.org/drawingml/2006/main" w="0">
            <a:solidFill>
              <a:srgbClr val="030817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93A8C7"/>
                </a:solidFill>
                <a:latin typeface="Aptos"/>
                <a:ea typeface="Aptos"/>
                <a:cs typeface="Aptos"/>
              </a:defRPr>
            </a:pPr>
            <a:r>
              <a:t>CPU, memory, restarts and pod summary queries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6CA3FE6-7C19-4D32-A664-5A8CD9C9D6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4648200"/>
            <a:ext cx="323850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0C162B"/>
          </a:solidFill>
          <a:ln xmlns:a="http://schemas.openxmlformats.org/drawingml/2006/main" w="9525">
            <a:solidFill>
              <a:srgbClr val="263653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DAAF6A2-B430-4524-B838-09321BEF55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4648200"/>
            <a:ext cx="47625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D3A6"/>
          </a:solidFill>
          <a:ln xmlns:a="http://schemas.openxmlformats.org/drawingml/2006/main" w="9525">
            <a:solidFill>
              <a:srgbClr val="22D3A6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AA20BC6-6B8A-4759-BB39-CDC4E9D9F8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4743450"/>
            <a:ext cx="29718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30817"/>
          </a:solidFill>
          <a:ln xmlns:a="http://schemas.openxmlformats.org/drawingml/2006/main" w="0">
            <a:solidFill>
              <a:srgbClr val="030817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5F7FB"/>
                </a:solidFill>
                <a:latin typeface="Aptos"/>
                <a:ea typeface="Aptos"/>
                <a:cs typeface="Aptos"/>
              </a:defRPr>
            </a:pPr>
            <a:r>
              <a:t>PostgreSQL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405FB65-70A9-4E59-A8D3-77611F57CE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5029200"/>
            <a:ext cx="29718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30817"/>
          </a:solidFill>
          <a:ln xmlns:a="http://schemas.openxmlformats.org/drawingml/2006/main" w="0">
            <a:solidFill>
              <a:srgbClr val="030817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93A8C7"/>
                </a:solidFill>
                <a:latin typeface="Aptos"/>
                <a:ea typeface="Aptos"/>
                <a:cs typeface="Aptos"/>
              </a:defRPr>
            </a:pPr>
            <a:r>
              <a:t>Persisted analysis snapshots and finding counts</a:t>
            </a:r>
          </a:p>
        </p:txBody>
      </p:sp>
      <p:cxnSp>
        <p:nvCxnSpPr>
          <p:cNvPr id="33" name=""/>
          <p:cNvCxnSpPr>
            <a:stCxn xmlns:a="http://schemas.openxmlformats.org/drawingml/2006/main" id="13" idx="3"/>
            <a:endCxn xmlns:a="http://schemas.openxmlformats.org/drawingml/2006/main" id="17" idx="1"/>
          </p:cNvCxnSpPr>
          <p:nvPr/>
        </p:nvCxnSpPr>
        <p:spPr>
          <a:xfrm xmlns:a="http://schemas.openxmlformats.org/drawingml/2006/main">
            <a:off x="3238500" y="3000375"/>
            <a:ext cx="9715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A8FB8"/>
            </a:solidFill>
            <a:prstDash val="solid"/>
          </a:ln>
        </p:spPr>
      </p:cxnSp>
      <p:cxnSp>
        <p:nvCxnSpPr>
          <p:cNvPr id="34" name=""/>
          <p:cNvCxnSpPr>
            <a:stCxn xmlns:a="http://schemas.openxmlformats.org/drawingml/2006/main" id="17" idx="3"/>
            <a:endCxn xmlns:a="http://schemas.openxmlformats.org/drawingml/2006/main" id="21" idx="1"/>
          </p:cNvCxnSpPr>
          <p:nvPr/>
        </p:nvCxnSpPr>
        <p:spPr>
          <a:xfrm xmlns:a="http://schemas.openxmlformats.org/drawingml/2006/main" flipV="1">
            <a:off x="6781800" y="2771775"/>
            <a:ext cx="971550" cy="228600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1A8FB8"/>
            </a:solidFill>
            <a:prstDash val="solid"/>
          </a:ln>
        </p:spPr>
      </p:cxnSp>
      <p:cxnSp>
        <p:nvCxnSpPr>
          <p:cNvPr id="35" name=""/>
          <p:cNvCxnSpPr>
            <a:stCxn xmlns:a="http://schemas.openxmlformats.org/drawingml/2006/main" id="17" idx="3"/>
            <a:endCxn xmlns:a="http://schemas.openxmlformats.org/drawingml/2006/main" id="25" idx="1"/>
          </p:cNvCxnSpPr>
          <p:nvPr/>
        </p:nvCxnSpPr>
        <p:spPr>
          <a:xfrm xmlns:a="http://schemas.openxmlformats.org/drawingml/2006/main">
            <a:off x="6781800" y="3000375"/>
            <a:ext cx="971550" cy="962025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1A8FB8"/>
            </a:solidFill>
            <a:prstDash val="solid"/>
          </a:ln>
        </p:spPr>
      </p:cxnSp>
      <p:cxnSp>
        <p:nvCxnSpPr>
          <p:cNvPr id="36" name=""/>
          <p:cNvCxnSpPr>
            <a:stCxn xmlns:a="http://schemas.openxmlformats.org/drawingml/2006/main" id="17" idx="3"/>
            <a:endCxn xmlns:a="http://schemas.openxmlformats.org/drawingml/2006/main" id="29" idx="1"/>
          </p:cNvCxnSpPr>
          <p:nvPr/>
        </p:nvCxnSpPr>
        <p:spPr>
          <a:xfrm xmlns:a="http://schemas.openxmlformats.org/drawingml/2006/main">
            <a:off x="6781800" y="3000375"/>
            <a:ext cx="971550" cy="2085975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1A8FB8"/>
            </a:solidFill>
            <a:prstDash val="solid"/>
          </a:ln>
        </p:spPr>
      </p:cxn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43F42C8A-2BB7-4649-84FC-794583E216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2724150"/>
            <a:ext cx="8572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30817"/>
          </a:solidFill>
          <a:ln xmlns:a="http://schemas.openxmlformats.org/drawingml/2006/main" w="0">
            <a:solidFill>
              <a:srgbClr val="030817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08D9F5"/>
                </a:solidFill>
                <a:latin typeface="Aptos"/>
                <a:ea typeface="Aptos"/>
                <a:cs typeface="Aptos"/>
              </a:defRPr>
            </a:pPr>
            <a:r>
              <a:t>API call →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F1E15584-5FB8-4638-8798-6F72CFABEB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2571750"/>
            <a:ext cx="952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30817"/>
          </a:solidFill>
          <a:ln xmlns:a="http://schemas.openxmlformats.org/drawingml/2006/main" w="0">
            <a:solidFill>
              <a:srgbClr val="030817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C928"/>
                </a:solidFill>
                <a:latin typeface="Aptos"/>
                <a:ea typeface="Aptos"/>
                <a:cs typeface="Aptos"/>
              </a:defRPr>
            </a:pPr>
            <a:r>
              <a:t>→ cluster state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18C97E96-586B-4590-9797-2C76A73420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3714750"/>
            <a:ext cx="952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30817"/>
          </a:solidFill>
          <a:ln xmlns:a="http://schemas.openxmlformats.org/drawingml/2006/main" w="0">
            <a:solidFill>
              <a:srgbClr val="030817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08D9F5"/>
                </a:solidFill>
                <a:latin typeface="Aptos"/>
                <a:ea typeface="Aptos"/>
                <a:cs typeface="Aptos"/>
              </a:defRPr>
            </a:pPr>
            <a:r>
              <a:t>→ metrics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BE2BEE75-09F8-40FD-87E1-E2ED83603A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4819650"/>
            <a:ext cx="952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30817"/>
          </a:solidFill>
          <a:ln xmlns:a="http://schemas.openxmlformats.org/drawingml/2006/main" w="0">
            <a:solidFill>
              <a:srgbClr val="030817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22D3A6"/>
                </a:solidFill>
                <a:latin typeface="Aptos"/>
                <a:ea typeface="Aptos"/>
                <a:cs typeface="Aptos"/>
              </a:defRPr>
            </a:pPr>
            <a:r>
              <a:t>→ snapshots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9DC7843D-F0D1-42D8-8BCE-B700DCCE48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86300"/>
            <a:ext cx="59055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30817"/>
          </a:solidFill>
          <a:ln xmlns:a="http://schemas.openxmlformats.org/drawingml/2006/main" w="0">
            <a:solidFill>
              <a:srgbClr val="030817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5F7FB"/>
                </a:solidFill>
                <a:latin typeface="Aptos"/>
                <a:ea typeface="Aptos"/>
                <a:cs typeface="Aptos"/>
              </a:defRPr>
            </a:pPr>
            <a:r>
              <a:t>Delivered through Docker Compose locally and Helm on Kubernetes.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AD006E25-3823-4408-BCBA-0D1D32A2F3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34000"/>
            <a:ext cx="59055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30817"/>
          </a:solidFill>
          <a:ln xmlns:a="http://schemas.openxmlformats.org/drawingml/2006/main" w="0">
            <a:solidFill>
              <a:srgbClr val="030817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93A8C7"/>
                </a:solidFill>
                <a:latin typeface="Aptos"/>
                <a:ea typeface="Aptos"/>
                <a:cs typeface="Aptos"/>
              </a:defRPr>
            </a:pPr>
            <a:r>
              <a:t>CI builds and publishes API + dashboard images to GHCR.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077C51D3-7EB2-40B7-8AA1-43B0651531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0557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3653"/>
          </a:solidFill>
          <a:ln xmlns:a="http://schemas.openxmlformats.org/drawingml/2006/main" w="9525">
            <a:solidFill>
              <a:srgbClr val="263653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15ED4508-CB4F-42EA-9701-121BDD742E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43675"/>
            <a:ext cx="8763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30817"/>
          </a:solidFill>
          <a:ln xmlns:a="http://schemas.openxmlformats.org/drawingml/2006/main" w="0">
            <a:solidFill>
              <a:srgbClr val="030817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93A8C7"/>
                </a:solidFill>
                <a:latin typeface="Aptos"/>
                <a:ea typeface="Aptos"/>
                <a:cs typeface="Aptos"/>
              </a:defRPr>
            </a:pPr>
            <a:r>
              <a:t>Source: README, Docker/Compose configuration, Helm chart and API implementation</a:t>
            </a:r>
          </a:p>
        </p:txBody>
      </p:sp>
    </p:spTree>
    <p:extLst>
      <p:ext uri="{BB962C8B-B14F-4D97-AF65-F5344CB8AC3E}">
        <p14:creationId xmlns:p14="http://schemas.microsoft.com/office/powerpoint/2010/main" val="405177512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5CCCF90-28A1-41BE-ADE9-A28F9A3B28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30817"/>
          </a:solidFill>
          <a:ln xmlns:a="http://schemas.openxmlformats.org/drawingml/2006/main" w="9525">
            <a:solidFill>
              <a:srgbClr val="030817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67AD971-2CC0-499E-B52B-D50FADD0E0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6725"/>
            <a:ext cx="2095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D9F5"/>
          </a:solidFill>
          <a:ln xmlns:a="http://schemas.openxmlformats.org/drawingml/2006/main" w="9525">
            <a:solidFill>
              <a:srgbClr val="08D9F5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CA3A6AD-D509-41E8-B0B2-1A8D6B2A8C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61950"/>
            <a:ext cx="36957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30817"/>
          </a:solidFill>
          <a:ln xmlns:a="http://schemas.openxmlformats.org/drawingml/2006/main" w="0">
            <a:solidFill>
              <a:srgbClr val="030817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8D9F5"/>
                </a:solidFill>
                <a:latin typeface="Aptos"/>
                <a:ea typeface="Aptos"/>
                <a:cs typeface="Aptos"/>
              </a:defRPr>
            </a:pPr>
            <a:r>
              <a:t>OPERATING LOOP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273BC71-ADF2-4932-9870-8F991F2BA7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38225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30817"/>
          </a:solidFill>
          <a:ln xmlns:a="http://schemas.openxmlformats.org/drawingml/2006/main" w="0">
            <a:solidFill>
              <a:srgbClr val="030817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5F7FB"/>
                </a:solidFill>
                <a:latin typeface="Aptos Display"/>
                <a:ea typeface="Aptos Display"/>
                <a:cs typeface="Aptos Display"/>
              </a:defRPr>
            </a:pPr>
            <a:r>
              <a:t>The platform is built to move from a snapshot to continuous optimization.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FBBC13F-7022-4770-AE7C-C216EBDA63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562100"/>
            <a:ext cx="9906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30817"/>
          </a:solidFill>
          <a:ln xmlns:a="http://schemas.openxmlformats.org/drawingml/2006/main" w="0">
            <a:solidFill>
              <a:srgbClr val="030817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93A8C7"/>
                </a:solidFill>
                <a:latin typeface="Aptos"/>
                <a:ea typeface="Aptos"/>
                <a:cs typeface="Aptos"/>
              </a:defRPr>
            </a:pPr>
            <a:r>
              <a:t>History and alerts turn a useful demo into an operating habit.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C713523-0788-4716-AB6D-DA4702656E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400050"/>
            <a:ext cx="4000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30817"/>
          </a:solidFill>
          <a:ln xmlns:a="http://schemas.openxmlformats.org/drawingml/2006/main" w="0">
            <a:solidFill>
              <a:srgbClr val="030817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93A8C7"/>
                </a:solidFill>
                <a:latin typeface="Aptos"/>
                <a:ea typeface="Aptos"/>
                <a:cs typeface="Aptos"/>
              </a:defRPr>
            </a:pPr>
            <a:r>
              <a:t>07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408ADF7-0B96-4E47-8640-01CC444399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152650"/>
            <a:ext cx="666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30817"/>
          </a:solidFill>
          <a:ln xmlns:a="http://schemas.openxmlformats.org/drawingml/2006/main" w="0">
            <a:solidFill>
              <a:srgbClr val="030817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8D9F5"/>
                </a:solidFill>
                <a:latin typeface="Aptos Display"/>
                <a:ea typeface="Aptos Display"/>
                <a:cs typeface="Aptos Display"/>
              </a:defRPr>
            </a:pPr>
            <a: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F9C8A2D-E9C8-498E-8F4F-CD71F07413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647950"/>
            <a:ext cx="21907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D9F5"/>
          </a:solidFill>
          <a:ln xmlns:a="http://schemas.openxmlformats.org/drawingml/2006/main" w="9525">
            <a:solidFill>
              <a:srgbClr val="08D9F5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1D29010-5C33-448D-A803-A208DDABB6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857500"/>
            <a:ext cx="2190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30817"/>
          </a:solidFill>
          <a:ln xmlns:a="http://schemas.openxmlformats.org/drawingml/2006/main" w="0">
            <a:solidFill>
              <a:srgbClr val="030817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5F7FB"/>
                </a:solidFill>
                <a:latin typeface="Aptos"/>
                <a:ea typeface="Aptos"/>
                <a:cs typeface="Aptos"/>
              </a:defRPr>
            </a:pPr>
            <a:r>
              <a:t>Measure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79AD683-A01B-4B3A-A43D-E1CBBACDD8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238500"/>
            <a:ext cx="21907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30817"/>
          </a:solidFill>
          <a:ln xmlns:a="http://schemas.openxmlformats.org/drawingml/2006/main" w="0">
            <a:solidFill>
              <a:srgbClr val="030817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93A8C7"/>
                </a:solidFill>
                <a:latin typeface="Aptos"/>
                <a:ea typeface="Aptos"/>
                <a:cs typeface="Aptos"/>
              </a:defRPr>
            </a:pPr>
            <a:r>
              <a:t>Read live resource and scaling signals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445FA1C-3B63-4176-9C4A-0EC2B433B9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2800350"/>
            <a:ext cx="3429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30817"/>
          </a:solidFill>
          <a:ln xmlns:a="http://schemas.openxmlformats.org/drawingml/2006/main" w="0">
            <a:solidFill>
              <a:srgbClr val="030817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263653"/>
                </a:solidFill>
                <a:latin typeface="Aptos"/>
                <a:ea typeface="Aptos"/>
                <a:cs typeface="Aptos"/>
              </a:defRPr>
            </a:pPr>
            <a:r>
              <a:t>→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2FC2FEB-FA3F-420A-A4D2-859FFF5A7C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2152650"/>
            <a:ext cx="666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30817"/>
          </a:solidFill>
          <a:ln xmlns:a="http://schemas.openxmlformats.org/drawingml/2006/main" w="0">
            <a:solidFill>
              <a:srgbClr val="030817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FFC928"/>
                </a:solidFill>
                <a:latin typeface="Aptos Display"/>
                <a:ea typeface="Aptos Display"/>
                <a:cs typeface="Aptos Display"/>
              </a:defRPr>
            </a:pPr>
            <a:r>
              <a:t>02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EBD2DB3-2C35-4C5B-8FF1-316607FAB5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2647950"/>
            <a:ext cx="21907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C928"/>
          </a:solidFill>
          <a:ln xmlns:a="http://schemas.openxmlformats.org/drawingml/2006/main" w="9525">
            <a:solidFill>
              <a:srgbClr val="FFC928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FF753AB-23F4-4513-B60D-4B35DAF8C1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2857500"/>
            <a:ext cx="2190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30817"/>
          </a:solidFill>
          <a:ln xmlns:a="http://schemas.openxmlformats.org/drawingml/2006/main" w="0">
            <a:solidFill>
              <a:srgbClr val="030817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5F7FB"/>
                </a:solidFill>
                <a:latin typeface="Aptos"/>
                <a:ea typeface="Aptos"/>
                <a:cs typeface="Aptos"/>
              </a:defRPr>
            </a:pPr>
            <a:r>
              <a:t>Rank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FB0C9CC-3EA0-46AE-9A6B-EB6234B4E6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3238500"/>
            <a:ext cx="21907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30817"/>
          </a:solidFill>
          <a:ln xmlns:a="http://schemas.openxmlformats.org/drawingml/2006/main" w="0">
            <a:solidFill>
              <a:srgbClr val="030817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93A8C7"/>
                </a:solidFill>
                <a:latin typeface="Aptos"/>
                <a:ea typeface="Aptos"/>
                <a:cs typeface="Aptos"/>
              </a:defRPr>
            </a:pPr>
            <a:r>
              <a:t>Surface the most inefficient workloads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7636254-4994-4051-ACEC-5601AEE425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800350"/>
            <a:ext cx="3429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30817"/>
          </a:solidFill>
          <a:ln xmlns:a="http://schemas.openxmlformats.org/drawingml/2006/main" w="0">
            <a:solidFill>
              <a:srgbClr val="030817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263653"/>
                </a:solidFill>
                <a:latin typeface="Aptos"/>
                <a:ea typeface="Aptos"/>
                <a:cs typeface="Aptos"/>
              </a:defRPr>
            </a:pPr>
            <a:r>
              <a:t>→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86A03F6-A477-4576-AD84-75A4F04953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152650"/>
            <a:ext cx="666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30817"/>
          </a:solidFill>
          <a:ln xmlns:a="http://schemas.openxmlformats.org/drawingml/2006/main" w="0">
            <a:solidFill>
              <a:srgbClr val="030817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FF5C7A"/>
                </a:solidFill>
                <a:latin typeface="Aptos Display"/>
                <a:ea typeface="Aptos Display"/>
                <a:cs typeface="Aptos Display"/>
              </a:defRPr>
            </a:pPr>
            <a:r>
              <a:t>03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911C72A-3E0D-4B2B-A482-F07D9DFA32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647950"/>
            <a:ext cx="21907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5C7A"/>
          </a:solidFill>
          <a:ln xmlns:a="http://schemas.openxmlformats.org/drawingml/2006/main" w="9525">
            <a:solidFill>
              <a:srgbClr val="FF5C7A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085F19D-8405-4503-BDEB-E5FC4B16E9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857500"/>
            <a:ext cx="2190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30817"/>
          </a:solidFill>
          <a:ln xmlns:a="http://schemas.openxmlformats.org/drawingml/2006/main" w="0">
            <a:solidFill>
              <a:srgbClr val="030817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5F7FB"/>
                </a:solidFill>
                <a:latin typeface="Aptos"/>
                <a:ea typeface="Aptos"/>
                <a:cs typeface="Aptos"/>
              </a:defRPr>
            </a:pPr>
            <a:r>
              <a:t>Change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928C4C5-7DC9-49AE-A47B-97C233CC73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238500"/>
            <a:ext cx="21907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30817"/>
          </a:solidFill>
          <a:ln xmlns:a="http://schemas.openxmlformats.org/drawingml/2006/main" w="0">
            <a:solidFill>
              <a:srgbClr val="030817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93A8C7"/>
                </a:solidFill>
                <a:latin typeface="Aptos"/>
                <a:ea typeface="Aptos"/>
                <a:cs typeface="Aptos"/>
              </a:defRPr>
            </a:pPr>
            <a:r>
              <a:t>Right-size requests or repair autoscaling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0829102-CC42-408D-A1FA-C20F6905A7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2800350"/>
            <a:ext cx="3429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30817"/>
          </a:solidFill>
          <a:ln xmlns:a="http://schemas.openxmlformats.org/drawingml/2006/main" w="0">
            <a:solidFill>
              <a:srgbClr val="030817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263653"/>
                </a:solidFill>
                <a:latin typeface="Aptos"/>
                <a:ea typeface="Aptos"/>
                <a:cs typeface="Aptos"/>
              </a:defRPr>
            </a:pPr>
            <a:r>
              <a:t>→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07D84C9-D426-46A7-B0C7-8E7E5701BA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2152650"/>
            <a:ext cx="666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30817"/>
          </a:solidFill>
          <a:ln xmlns:a="http://schemas.openxmlformats.org/drawingml/2006/main" w="0">
            <a:solidFill>
              <a:srgbClr val="030817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22D3A6"/>
                </a:solidFill>
                <a:latin typeface="Aptos Display"/>
                <a:ea typeface="Aptos Display"/>
                <a:cs typeface="Aptos Display"/>
              </a:defRPr>
            </a:pPr>
            <a:r>
              <a:t>04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CB42BCC-065A-488D-BE67-992549CD62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2647950"/>
            <a:ext cx="21907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D3A6"/>
          </a:solidFill>
          <a:ln xmlns:a="http://schemas.openxmlformats.org/drawingml/2006/main" w="9525">
            <a:solidFill>
              <a:srgbClr val="22D3A6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1D09044-156F-41D9-BB11-867AA680BB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2857500"/>
            <a:ext cx="2190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30817"/>
          </a:solidFill>
          <a:ln xmlns:a="http://schemas.openxmlformats.org/drawingml/2006/main" w="0">
            <a:solidFill>
              <a:srgbClr val="030817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5F7FB"/>
                </a:solidFill>
                <a:latin typeface="Aptos"/>
                <a:ea typeface="Aptos"/>
                <a:cs typeface="Aptos"/>
              </a:defRPr>
            </a:pPr>
            <a:r>
              <a:t>Verify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93370FA-CB60-49FD-B4E1-38B0D15EB9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3238500"/>
            <a:ext cx="21907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30817"/>
          </a:solidFill>
          <a:ln xmlns:a="http://schemas.openxmlformats.org/drawingml/2006/main" w="0">
            <a:solidFill>
              <a:srgbClr val="030817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93A8C7"/>
                </a:solidFill>
                <a:latin typeface="Aptos"/>
                <a:ea typeface="Aptos"/>
                <a:cs typeface="Aptos"/>
              </a:defRPr>
            </a:pPr>
            <a:r>
              <a:t>Store snapshots and compare outcomes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47EB44F-8EB4-4D7C-8817-3944972FB2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400550"/>
            <a:ext cx="10896600" cy="11430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0C162B"/>
          </a:solidFill>
          <a:ln xmlns:a="http://schemas.openxmlformats.org/drawingml/2006/main" w="9525">
            <a:solidFill>
              <a:srgbClr val="263653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9572DB4-C66A-47FB-A093-FC6976245B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572000"/>
            <a:ext cx="2381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30817"/>
          </a:solidFill>
          <a:ln xmlns:a="http://schemas.openxmlformats.org/drawingml/2006/main" w="0">
            <a:solidFill>
              <a:srgbClr val="030817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8D9F5"/>
                </a:solidFill>
                <a:latin typeface="Aptos"/>
                <a:ea typeface="Aptos"/>
                <a:cs typeface="Aptos"/>
              </a:defRPr>
            </a:pPr>
            <a:r>
              <a:t>Operational proof points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EC78C4B-A11B-4405-9BED-3627765649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914900"/>
            <a:ext cx="21907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30817"/>
          </a:solidFill>
          <a:ln xmlns:a="http://schemas.openxmlformats.org/drawingml/2006/main" w="0">
            <a:solidFill>
              <a:srgbClr val="030817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5F7FB"/>
                </a:solidFill>
                <a:latin typeface="Aptos"/>
                <a:ea typeface="Aptos"/>
                <a:cs typeface="Aptos"/>
              </a:defRPr>
            </a:pPr>
            <a:r>
              <a:t>Analysis snapshots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47A76BD-6756-4B00-A183-393C5F977F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4914900"/>
            <a:ext cx="21907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30817"/>
          </a:solidFill>
          <a:ln xmlns:a="http://schemas.openxmlformats.org/drawingml/2006/main" w="0">
            <a:solidFill>
              <a:srgbClr val="030817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5F7FB"/>
                </a:solidFill>
                <a:latin typeface="Aptos"/>
                <a:ea typeface="Aptos"/>
                <a:cs typeface="Aptos"/>
              </a:defRPr>
            </a:pPr>
            <a:r>
              <a:t>Alert indicators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60711E0-82E4-452E-B692-FC01F5276B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4914900"/>
            <a:ext cx="21907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30817"/>
          </a:solidFill>
          <a:ln xmlns:a="http://schemas.openxmlformats.org/drawingml/2006/main" w="0">
            <a:solidFill>
              <a:srgbClr val="030817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5F7FB"/>
                </a:solidFill>
                <a:latin typeface="Aptos"/>
                <a:ea typeface="Aptos"/>
                <a:cs typeface="Aptos"/>
              </a:defRPr>
            </a:pPr>
            <a:r>
              <a:t>Cost per service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CE6A8DE1-CEA2-431C-AD49-A8BB3E18C6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4914900"/>
            <a:ext cx="21907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30817"/>
          </a:solidFill>
          <a:ln xmlns:a="http://schemas.openxmlformats.org/drawingml/2006/main" w="0">
            <a:solidFill>
              <a:srgbClr val="030817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5F7FB"/>
                </a:solidFill>
                <a:latin typeface="Aptos"/>
                <a:ea typeface="Aptos"/>
                <a:cs typeface="Aptos"/>
              </a:defRPr>
            </a:pPr>
            <a:r>
              <a:t>Multi-cluster view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5F54FC59-24A7-4055-A9CF-BE19F4CE44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0557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3653"/>
          </a:solidFill>
          <a:ln xmlns:a="http://schemas.openxmlformats.org/drawingml/2006/main" w="9525">
            <a:solidFill>
              <a:srgbClr val="263653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0653B314-33C7-46D8-A35E-3374E40FE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43675"/>
            <a:ext cx="8763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30817"/>
          </a:solidFill>
          <a:ln xmlns:a="http://schemas.openxmlformats.org/drawingml/2006/main" w="0">
            <a:solidFill>
              <a:srgbClr val="030817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93A8C7"/>
                </a:solidFill>
                <a:latin typeface="Aptos"/>
                <a:ea typeface="Aptos"/>
                <a:cs typeface="Aptos"/>
              </a:defRPr>
            </a:pPr>
            <a:r>
              <a:t>Current capability plus roadmap direction from repository README</a:t>
            </a:r>
          </a:p>
        </p:txBody>
      </p:sp>
    </p:spTree>
    <p:extLst>
      <p:ext uri="{BB962C8B-B14F-4D97-AF65-F5344CB8AC3E}">
        <p14:creationId xmlns:p14="http://schemas.microsoft.com/office/powerpoint/2010/main" val="621563162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ECD5203-07B3-481B-999F-A89A99D1B7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30817"/>
          </a:solidFill>
          <a:ln xmlns:a="http://schemas.openxmlformats.org/drawingml/2006/main" w="9525">
            <a:solidFill>
              <a:srgbClr val="030817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06D358F-6B4D-4C80-9BF0-60C86C5323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6725"/>
            <a:ext cx="2095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D9F5"/>
          </a:solidFill>
          <a:ln xmlns:a="http://schemas.openxmlformats.org/drawingml/2006/main" w="9525">
            <a:solidFill>
              <a:srgbClr val="08D9F5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8117A67-83BD-4D38-98F3-958C24D70E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61950"/>
            <a:ext cx="36957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30817"/>
          </a:solidFill>
          <a:ln xmlns:a="http://schemas.openxmlformats.org/drawingml/2006/main" w="0">
            <a:solidFill>
              <a:srgbClr val="030817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8D9F5"/>
                </a:solidFill>
                <a:latin typeface="Aptos"/>
                <a:ea typeface="Aptos"/>
                <a:cs typeface="Aptos"/>
              </a:defRPr>
            </a:pPr>
            <a:r>
              <a:t>ROADMAP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8B5B5CB-8F3B-43EC-AD6D-DE5D5DE7CB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38225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30817"/>
          </a:solidFill>
          <a:ln xmlns:a="http://schemas.openxmlformats.org/drawingml/2006/main" w="0">
            <a:solidFill>
              <a:srgbClr val="030817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5F7FB"/>
                </a:solidFill>
                <a:latin typeface="Aptos Display"/>
                <a:ea typeface="Aptos Display"/>
                <a:cs typeface="Aptos Display"/>
              </a:defRPr>
            </a:pPr>
            <a:r>
              <a:t>The next milestone is trustworthy cost attribution, not more dashboard surface.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3C409E7-0069-4FBB-82F8-1381CE0BDD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562100"/>
            <a:ext cx="9906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30817"/>
          </a:solidFill>
          <a:ln xmlns:a="http://schemas.openxmlformats.org/drawingml/2006/main" w="0">
            <a:solidFill>
              <a:srgbClr val="030817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93A8C7"/>
                </a:solidFill>
                <a:latin typeface="Aptos"/>
                <a:ea typeface="Aptos"/>
                <a:cs typeface="Aptos"/>
              </a:defRPr>
            </a:pPr>
            <a:r>
              <a:t>Build depth in the signal-to-action loop before expanding breadth.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DFC87DE-631E-469A-9196-D9976758AF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400050"/>
            <a:ext cx="4000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30817"/>
          </a:solidFill>
          <a:ln xmlns:a="http://schemas.openxmlformats.org/drawingml/2006/main" w="0">
            <a:solidFill>
              <a:srgbClr val="030817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93A8C7"/>
                </a:solidFill>
                <a:latin typeface="Aptos"/>
                <a:ea typeface="Aptos"/>
                <a:cs typeface="Aptos"/>
              </a:defRPr>
            </a:pPr>
            <a:r>
              <a:t>08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E37AA83-B08D-4BD7-BCA4-FCE4EECC49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95500"/>
            <a:ext cx="3352800" cy="3505200"/>
          </a:xfrm>
          <a:prstGeom xmlns:a="http://schemas.openxmlformats.org/drawingml/2006/main" prst="roundRect">
            <a:avLst>
              <a:gd name="adj" fmla="val 2273"/>
            </a:avLst>
          </a:prstGeom>
          <a:solidFill xmlns:a="http://schemas.openxmlformats.org/drawingml/2006/main">
            <a:srgbClr val="0C162B"/>
          </a:solidFill>
          <a:ln xmlns:a="http://schemas.openxmlformats.org/drawingml/2006/main" w="9525">
            <a:solidFill>
              <a:srgbClr val="263653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FBDC280-E8F1-421B-9629-A3AC65A589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305050"/>
            <a:ext cx="800100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030817"/>
          </a:solidFill>
          <a:ln xmlns:a="http://schemas.openxmlformats.org/drawingml/2006/main" w="9525">
            <a:solidFill>
              <a:srgbClr val="030817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24EF35D-8563-4EDA-B5E9-DA45ACB257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305050"/>
            <a:ext cx="8001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30817"/>
          </a:solidFill>
          <a:ln xmlns:a="http://schemas.openxmlformats.org/drawingml/2006/main" w="0">
            <a:solidFill>
              <a:srgbClr val="030817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08D9F5"/>
                </a:solidFill>
                <a:latin typeface="Aptos"/>
                <a:ea typeface="Aptos"/>
                <a:cs typeface="Aptos"/>
              </a:defRPr>
            </a:pPr>
            <a:r>
              <a:t>NOW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DF4C5B9-4DF9-48E3-8F31-B07FE5740A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724150"/>
            <a:ext cx="28956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30817"/>
          </a:solidFill>
          <a:ln xmlns:a="http://schemas.openxmlformats.org/drawingml/2006/main" w="0">
            <a:solidFill>
              <a:srgbClr val="030817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5F7FB"/>
                </a:solidFill>
                <a:latin typeface="Aptos"/>
                <a:ea typeface="Aptos"/>
                <a:cs typeface="Aptos"/>
              </a:defRPr>
            </a:pPr>
            <a:r>
              <a:t>Working foundation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0619FCC-509A-4276-A5DD-FCEAC7A95B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333750"/>
            <a:ext cx="1333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D9F5"/>
          </a:solidFill>
          <a:ln xmlns:a="http://schemas.openxmlformats.org/drawingml/2006/main" w="9525">
            <a:solidFill>
              <a:srgbClr val="08D9F5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C9F3749-A232-466A-93E6-10D89F0F0B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181350"/>
            <a:ext cx="2571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30817"/>
          </a:solidFill>
          <a:ln xmlns:a="http://schemas.openxmlformats.org/drawingml/2006/main" w="0">
            <a:solidFill>
              <a:srgbClr val="030817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93A8C7"/>
                </a:solidFill>
                <a:latin typeface="Aptos"/>
                <a:ea typeface="Aptos"/>
                <a:cs typeface="Aptos"/>
              </a:defRPr>
            </a:pPr>
            <a:r>
              <a:t>Cluster health + workload analysis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ADF7EC7-18EE-4C11-8523-F1AD1F4922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829050"/>
            <a:ext cx="1333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D9F5"/>
          </a:solidFill>
          <a:ln xmlns:a="http://schemas.openxmlformats.org/drawingml/2006/main" w="9525">
            <a:solidFill>
              <a:srgbClr val="08D9F5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F2B3319-A38B-433B-B8A8-BA72145A85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676650"/>
            <a:ext cx="2571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30817"/>
          </a:solidFill>
          <a:ln xmlns:a="http://schemas.openxmlformats.org/drawingml/2006/main" w="0">
            <a:solidFill>
              <a:srgbClr val="030817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93A8C7"/>
                </a:solidFill>
                <a:latin typeface="Aptos"/>
                <a:ea typeface="Aptos"/>
                <a:cs typeface="Aptos"/>
              </a:defRPr>
            </a:pPr>
            <a:r>
              <a:t>HPA visibility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29B4F26-1540-415E-AB06-962EF998DD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324350"/>
            <a:ext cx="1333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D9F5"/>
          </a:solidFill>
          <a:ln xmlns:a="http://schemas.openxmlformats.org/drawingml/2006/main" w="9525">
            <a:solidFill>
              <a:srgbClr val="08D9F5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0A0E0D9-E914-4E5A-B306-79F128A11F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4171950"/>
            <a:ext cx="2571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30817"/>
          </a:solidFill>
          <a:ln xmlns:a="http://schemas.openxmlformats.org/drawingml/2006/main" w="0">
            <a:solidFill>
              <a:srgbClr val="030817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93A8C7"/>
                </a:solidFill>
                <a:latin typeface="Aptos"/>
                <a:ea typeface="Aptos"/>
                <a:cs typeface="Aptos"/>
              </a:defRPr>
            </a:pPr>
            <a:r>
              <a:t>Resource efficiency score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0CBDB8A-8ACC-4620-AFEE-7024BFF37A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819650"/>
            <a:ext cx="1333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D9F5"/>
          </a:solidFill>
          <a:ln xmlns:a="http://schemas.openxmlformats.org/drawingml/2006/main" w="9525">
            <a:solidFill>
              <a:srgbClr val="08D9F5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BC3A505-44C5-4707-AA44-EAA28773F3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4667250"/>
            <a:ext cx="2571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30817"/>
          </a:solidFill>
          <a:ln xmlns:a="http://schemas.openxmlformats.org/drawingml/2006/main" w="0">
            <a:solidFill>
              <a:srgbClr val="030817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93A8C7"/>
                </a:solidFill>
                <a:latin typeface="Aptos"/>
                <a:ea typeface="Aptos"/>
                <a:cs typeface="Aptos"/>
              </a:defRPr>
            </a:pPr>
            <a:r>
              <a:t>Docker, Compose, Helm and CI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4D5912C-AB92-4332-B367-DF7D347907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2095500"/>
            <a:ext cx="3352800" cy="3505200"/>
          </a:xfrm>
          <a:prstGeom xmlns:a="http://schemas.openxmlformats.org/drawingml/2006/main" prst="roundRect">
            <a:avLst>
              <a:gd name="adj" fmla="val 2273"/>
            </a:avLst>
          </a:prstGeom>
          <a:solidFill xmlns:a="http://schemas.openxmlformats.org/drawingml/2006/main">
            <a:srgbClr val="111E36"/>
          </a:solidFill>
          <a:ln xmlns:a="http://schemas.openxmlformats.org/drawingml/2006/main" w="9525">
            <a:solidFill>
              <a:srgbClr val="263653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1E00CE0-2BE0-4CA2-B675-D8C144F09E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2305050"/>
            <a:ext cx="800100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030817"/>
          </a:solidFill>
          <a:ln xmlns:a="http://schemas.openxmlformats.org/drawingml/2006/main" w="9525">
            <a:solidFill>
              <a:srgbClr val="030817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8FDCA0A-5956-4219-BFC6-AB1EDAF3E2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2305050"/>
            <a:ext cx="8001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30817"/>
          </a:solidFill>
          <a:ln xmlns:a="http://schemas.openxmlformats.org/drawingml/2006/main" w="0">
            <a:solidFill>
              <a:srgbClr val="030817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C928"/>
                </a:solidFill>
                <a:latin typeface="Aptos"/>
                <a:ea typeface="Aptos"/>
                <a:cs typeface="Aptos"/>
              </a:defRPr>
            </a:pPr>
            <a:r>
              <a:t>NEXT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C7EB3A2-0817-4DC0-A62C-43BD569A1C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2724150"/>
            <a:ext cx="28956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30817"/>
          </a:solidFill>
          <a:ln xmlns:a="http://schemas.openxmlformats.org/drawingml/2006/main" w="0">
            <a:solidFill>
              <a:srgbClr val="030817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5F7FB"/>
                </a:solidFill>
                <a:latin typeface="Aptos"/>
                <a:ea typeface="Aptos"/>
                <a:cs typeface="Aptos"/>
              </a:defRPr>
            </a:pPr>
            <a:r>
              <a:t>Decision-quality insight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A88DD9C-7A64-4A1F-A93C-956C87F289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3333750"/>
            <a:ext cx="1333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C928"/>
          </a:solidFill>
          <a:ln xmlns:a="http://schemas.openxmlformats.org/drawingml/2006/main" w="9525">
            <a:solidFill>
              <a:srgbClr val="FFC928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2B78F0B-3FDA-4C91-B5E7-CBDD4ACA13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3181350"/>
            <a:ext cx="2571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30817"/>
          </a:solidFill>
          <a:ln xmlns:a="http://schemas.openxmlformats.org/drawingml/2006/main" w="0">
            <a:solidFill>
              <a:srgbClr val="030817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93A8C7"/>
                </a:solidFill>
                <a:latin typeface="Aptos"/>
                <a:ea typeface="Aptos"/>
                <a:cs typeface="Aptos"/>
              </a:defRPr>
            </a:pPr>
            <a:r>
              <a:t>Live Kubernetes metric coverage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97F3BC8-04C0-410D-9B80-026F36B7FB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3829050"/>
            <a:ext cx="1333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C928"/>
          </a:solidFill>
          <a:ln xmlns:a="http://schemas.openxmlformats.org/drawingml/2006/main" w="9525">
            <a:solidFill>
              <a:srgbClr val="FFC928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03616E9-2743-4278-8F76-04B3A83D50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3676650"/>
            <a:ext cx="2571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30817"/>
          </a:solidFill>
          <a:ln xmlns:a="http://schemas.openxmlformats.org/drawingml/2006/main" w="0">
            <a:solidFill>
              <a:srgbClr val="030817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93A8C7"/>
                </a:solidFill>
                <a:latin typeface="Aptos"/>
                <a:ea typeface="Aptos"/>
                <a:cs typeface="Aptos"/>
              </a:defRPr>
            </a:pPr>
            <a:r>
              <a:t>Resource waste alerts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A3A4CAD-C511-44FC-A493-8428164FCA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4324350"/>
            <a:ext cx="1333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C928"/>
          </a:solidFill>
          <a:ln xmlns:a="http://schemas.openxmlformats.org/drawingml/2006/main" w="9525">
            <a:solidFill>
              <a:srgbClr val="FFC928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275495F-B5D2-450F-9A83-375155E9D6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4171950"/>
            <a:ext cx="2571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30817"/>
          </a:solidFill>
          <a:ln xmlns:a="http://schemas.openxmlformats.org/drawingml/2006/main" w="0">
            <a:solidFill>
              <a:srgbClr val="030817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93A8C7"/>
                </a:solidFill>
                <a:latin typeface="Aptos"/>
                <a:ea typeface="Aptos"/>
                <a:cs typeface="Aptos"/>
              </a:defRPr>
            </a:pPr>
            <a:r>
              <a:t>Historical trend charts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D936521-77E5-4822-8D02-EBA8E4A580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4819650"/>
            <a:ext cx="1333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C928"/>
          </a:solidFill>
          <a:ln xmlns:a="http://schemas.openxmlformats.org/drawingml/2006/main" w="9525">
            <a:solidFill>
              <a:srgbClr val="FFC928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E8948FC-2F6D-4A6B-8A24-545C143088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4667250"/>
            <a:ext cx="2571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30817"/>
          </a:solidFill>
          <a:ln xmlns:a="http://schemas.openxmlformats.org/drawingml/2006/main" w="0">
            <a:solidFill>
              <a:srgbClr val="030817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93A8C7"/>
                </a:solidFill>
                <a:latin typeface="Aptos"/>
                <a:ea typeface="Aptos"/>
                <a:cs typeface="Aptos"/>
              </a:defRPr>
            </a:pPr>
            <a:r>
              <a:t>Cost per service and namespace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59942AE-689A-4560-98D9-F552FCC186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2095500"/>
            <a:ext cx="3352800" cy="3505200"/>
          </a:xfrm>
          <a:prstGeom xmlns:a="http://schemas.openxmlformats.org/drawingml/2006/main" prst="roundRect">
            <a:avLst>
              <a:gd name="adj" fmla="val 2273"/>
            </a:avLst>
          </a:prstGeom>
          <a:solidFill xmlns:a="http://schemas.openxmlformats.org/drawingml/2006/main">
            <a:srgbClr val="0C162B"/>
          </a:solidFill>
          <a:ln xmlns:a="http://schemas.openxmlformats.org/drawingml/2006/main" w="9525">
            <a:solidFill>
              <a:srgbClr val="263653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8409D494-DCB2-4B61-AE2B-2FAF16D92F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305050"/>
            <a:ext cx="800100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030817"/>
          </a:solidFill>
          <a:ln xmlns:a="http://schemas.openxmlformats.org/drawingml/2006/main" w="9525">
            <a:solidFill>
              <a:srgbClr val="030817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2D5E7463-7D00-4773-83EF-E3326D8092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305050"/>
            <a:ext cx="8001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30817"/>
          </a:solidFill>
          <a:ln xmlns:a="http://schemas.openxmlformats.org/drawingml/2006/main" w="0">
            <a:solidFill>
              <a:srgbClr val="030817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22D3A6"/>
                </a:solidFill>
                <a:latin typeface="Aptos"/>
                <a:ea typeface="Aptos"/>
                <a:cs typeface="Aptos"/>
              </a:defRPr>
            </a:pPr>
            <a:r>
              <a:t>LATER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583CB444-1E31-4704-A996-E908F2B8FD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724150"/>
            <a:ext cx="28956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30817"/>
          </a:solidFill>
          <a:ln xmlns:a="http://schemas.openxmlformats.org/drawingml/2006/main" w="0">
            <a:solidFill>
              <a:srgbClr val="030817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5F7FB"/>
                </a:solidFill>
                <a:latin typeface="Aptos"/>
                <a:ea typeface="Aptos"/>
                <a:cs typeface="Aptos"/>
              </a:defRPr>
            </a:pPr>
            <a:r>
              <a:t>Platform scale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3638B04D-B20B-4140-96E3-82A7C5F660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3333750"/>
            <a:ext cx="1333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D3A6"/>
          </a:solidFill>
          <a:ln xmlns:a="http://schemas.openxmlformats.org/drawingml/2006/main" w="9525">
            <a:solidFill>
              <a:srgbClr val="22D3A6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AB35F28D-F08D-4D64-8E32-55F4A4A7CC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3181350"/>
            <a:ext cx="2571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30817"/>
          </a:solidFill>
          <a:ln xmlns:a="http://schemas.openxmlformats.org/drawingml/2006/main" w="0">
            <a:solidFill>
              <a:srgbClr val="030817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93A8C7"/>
                </a:solidFill>
                <a:latin typeface="Aptos"/>
                <a:ea typeface="Aptos"/>
                <a:cs typeface="Aptos"/>
              </a:defRPr>
            </a:pPr>
            <a:r>
              <a:t>Potential savings tracking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7DD61E03-5F0A-4075-92A9-8244B31E8C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3829050"/>
            <a:ext cx="1333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D3A6"/>
          </a:solidFill>
          <a:ln xmlns:a="http://schemas.openxmlformats.org/drawingml/2006/main" w="9525">
            <a:solidFill>
              <a:srgbClr val="22D3A6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2FEAF77F-A682-49D0-AA47-36CECDC461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3676650"/>
            <a:ext cx="2571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30817"/>
          </a:solidFill>
          <a:ln xmlns:a="http://schemas.openxmlformats.org/drawingml/2006/main" w="0">
            <a:solidFill>
              <a:srgbClr val="030817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93A8C7"/>
                </a:solidFill>
                <a:latin typeface="Aptos"/>
                <a:ea typeface="Aptos"/>
                <a:cs typeface="Aptos"/>
              </a:defRPr>
            </a:pPr>
            <a:r>
              <a:t>Multi-cluster support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EB0F4CD1-ED35-4646-8897-EEDCF40369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4324350"/>
            <a:ext cx="1333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D3A6"/>
          </a:solidFill>
          <a:ln xmlns:a="http://schemas.openxmlformats.org/drawingml/2006/main" w="9525">
            <a:solidFill>
              <a:srgbClr val="22D3A6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871966F0-BC35-4C8E-A8D3-B4CAB74020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4171950"/>
            <a:ext cx="2571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30817"/>
          </a:solidFill>
          <a:ln xmlns:a="http://schemas.openxmlformats.org/drawingml/2006/main" w="0">
            <a:solidFill>
              <a:srgbClr val="030817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93A8C7"/>
                </a:solidFill>
                <a:latin typeface="Aptos"/>
                <a:ea typeface="Aptos"/>
                <a:cs typeface="Aptos"/>
              </a:defRPr>
            </a:pPr>
            <a:r>
              <a:t>Policy-driven recommendations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BAFBDA38-E4F4-4B9B-AD92-8C64CE14A1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4819650"/>
            <a:ext cx="1333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D3A6"/>
          </a:solidFill>
          <a:ln xmlns:a="http://schemas.openxmlformats.org/drawingml/2006/main" w="9525">
            <a:solidFill>
              <a:srgbClr val="22D3A6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7773640A-27BF-4C34-B12E-AB516424D1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4667250"/>
            <a:ext cx="2571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30817"/>
          </a:solidFill>
          <a:ln xmlns:a="http://schemas.openxmlformats.org/drawingml/2006/main" w="0">
            <a:solidFill>
              <a:srgbClr val="030817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93A8C7"/>
                </a:solidFill>
                <a:latin typeface="Aptos"/>
                <a:ea typeface="Aptos"/>
                <a:cs typeface="Aptos"/>
              </a:defRPr>
            </a:pPr>
            <a:r>
              <a:t>Production reliability hardening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0C8D384C-D1AE-4202-B8A8-8C678F529B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0557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3653"/>
          </a:solidFill>
          <a:ln xmlns:a="http://schemas.openxmlformats.org/drawingml/2006/main" w="9525">
            <a:solidFill>
              <a:srgbClr val="263653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73F5647C-73B5-40CF-B72F-678C2EA386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43675"/>
            <a:ext cx="8763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30817"/>
          </a:solidFill>
          <a:ln xmlns:a="http://schemas.openxmlformats.org/drawingml/2006/main" w="0">
            <a:solidFill>
              <a:srgbClr val="030817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93A8C7"/>
                </a:solidFill>
                <a:latin typeface="Aptos"/>
                <a:ea typeface="Aptos"/>
                <a:cs typeface="Aptos"/>
              </a:defRPr>
            </a:pPr>
            <a:r>
              <a:t>Roadmap synthesized from repository README and current implementation</a:t>
            </a:r>
          </a:p>
        </p:txBody>
      </p:sp>
    </p:spTree>
    <p:extLst>
      <p:ext uri="{BB962C8B-B14F-4D97-AF65-F5344CB8AC3E}">
        <p14:creationId xmlns:p14="http://schemas.microsoft.com/office/powerpoint/2010/main" val="44529313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2026-06-08T11:36:26.0770000Z</dcterms:created>
  <dcterms:modified xsi:type="dcterms:W3CDTF">2026-06-08T11:36:26.0770000Z</dcterms:modified>
</coreProperties>
</file>